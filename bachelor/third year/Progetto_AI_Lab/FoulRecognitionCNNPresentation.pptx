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embeddedFontLst>
    <p:embeddedFont>
      <p:font typeface="Montserrat"/>
      <p:regular r:id="rId16"/>
      <p:bold r:id="rId17"/>
      <p:italic r:id="rId18"/>
      <p:boldItalic r:id="rId19"/>
    </p:embeddedFont>
    <p:embeddedFont>
      <p:font typeface="Montserrat Light"/>
      <p:regular r:id="rId20"/>
      <p:bold r:id="rId21"/>
      <p:italic r:id="rId22"/>
      <p:boldItalic r:id="rId23"/>
    </p:embeddedFont>
    <p:embeddedFont>
      <p:font typeface="Montserrat ExtraLight"/>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A4A3A4"/>
          </p15:clr>
        </p15:guide>
        <p15:guide id="2">
          <p15:clr>
            <a:srgbClr val="A4A3A4"/>
          </p15:clr>
        </p15:guide>
      </p15:sldGuideLst>
    </p:ext>
    <p:ext uri="GoogleSlidesCustomDataVersion2">
      <go:slidesCustomData xmlns:go="http://customooxmlschemas.google.com/" r:id="rId32" roundtripDataSignature="AMtx7mjbHKMNvg/kMHDcyTQ5aLILWtE6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Light-regular.fntdata"/><Relationship Id="rId22" Type="http://schemas.openxmlformats.org/officeDocument/2006/relationships/font" Target="fonts/MontserratLight-italic.fntdata"/><Relationship Id="rId21" Type="http://schemas.openxmlformats.org/officeDocument/2006/relationships/font" Target="fonts/MontserratLight-bold.fntdata"/><Relationship Id="rId24" Type="http://schemas.openxmlformats.org/officeDocument/2006/relationships/font" Target="fonts/MontserratExtraLight-regular.fntdata"/><Relationship Id="rId23" Type="http://schemas.openxmlformats.org/officeDocument/2006/relationships/font" Target="fonts/MontserratLight-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ExtraLight-italic.fntdata"/><Relationship Id="rId25" Type="http://schemas.openxmlformats.org/officeDocument/2006/relationships/font" Target="fonts/MontserratExtraLight-bold.fntdata"/><Relationship Id="rId28" Type="http://schemas.openxmlformats.org/officeDocument/2006/relationships/font" Target="fonts/RobotoMono-regular.fntdata"/><Relationship Id="rId27" Type="http://schemas.openxmlformats.org/officeDocument/2006/relationships/font" Target="fonts/MontserratExtraLight-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Montserrat-bold.fntdata"/><Relationship Id="rId16" Type="http://schemas.openxmlformats.org/officeDocument/2006/relationships/font" Target="fonts/Montserrat-regular.fntdata"/><Relationship Id="rId19" Type="http://schemas.openxmlformats.org/officeDocument/2006/relationships/font" Target="fonts/Montserrat-boldItalic.fntdata"/><Relationship Id="rId18" Type="http://schemas.openxmlformats.org/officeDocument/2006/relationships/font" Target="fonts/Montserra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617b676fc8_9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Buongiorno a tutti, siamo Lorenzo, Damiano e Guido, e oggi vi presentiamo il nostro progetto di </a:t>
            </a:r>
            <a:r>
              <a:rPr i="1" lang="en-US" sz="1100">
                <a:latin typeface="Arial"/>
                <a:ea typeface="Arial"/>
                <a:cs typeface="Arial"/>
                <a:sym typeface="Arial"/>
              </a:rPr>
              <a:t>AI Lab</a:t>
            </a:r>
            <a:r>
              <a:rPr lang="en-US" sz="1100">
                <a:latin typeface="Arial"/>
                <a:ea typeface="Arial"/>
                <a:cs typeface="Arial"/>
                <a:sym typeface="Arial"/>
              </a:rPr>
              <a:t>, dal titolo </a:t>
            </a:r>
            <a:r>
              <a:rPr b="1" lang="en-US" sz="1100">
                <a:latin typeface="Arial"/>
                <a:ea typeface="Arial"/>
                <a:cs typeface="Arial"/>
                <a:sym typeface="Arial"/>
              </a:rPr>
              <a:t>“Foul Detection in Football Using CNN”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L’idea alla base del progetto nasce da una considerazione semplice: in ambito calcistico, il riconoscimento dei falli è spesso </a:t>
            </a:r>
            <a:r>
              <a:rPr b="1" lang="en-US" sz="1100">
                <a:latin typeface="Arial"/>
                <a:ea typeface="Arial"/>
                <a:cs typeface="Arial"/>
                <a:sym typeface="Arial"/>
              </a:rPr>
              <a:t>soggettivo</a:t>
            </a:r>
            <a:r>
              <a:rPr lang="en-US" sz="1100">
                <a:latin typeface="Arial"/>
                <a:ea typeface="Arial"/>
                <a:cs typeface="Arial"/>
                <a:sym typeface="Arial"/>
              </a:rPr>
              <a:t> e </a:t>
            </a:r>
            <a:r>
              <a:rPr b="1" lang="en-US" sz="1100">
                <a:latin typeface="Arial"/>
                <a:ea typeface="Arial"/>
                <a:cs typeface="Arial"/>
                <a:sym typeface="Arial"/>
              </a:rPr>
              <a:t>controverso</a:t>
            </a:r>
            <a:r>
              <a:rPr lang="en-US" sz="1100">
                <a:latin typeface="Arial"/>
                <a:ea typeface="Arial"/>
                <a:cs typeface="Arial"/>
                <a:sym typeface="Arial"/>
              </a:rPr>
              <a:t>, anche con l’aiuto del VAR.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Ci siamo quindi chiesti: </a:t>
            </a:r>
            <a:r>
              <a:rPr i="1" lang="en-US" sz="1100">
                <a:latin typeface="Arial"/>
                <a:ea typeface="Arial"/>
                <a:cs typeface="Arial"/>
                <a:sym typeface="Arial"/>
              </a:rPr>
              <a:t>può un’intelligenza artificiale aiutare gli arbitri a prendere decisioni più rapide e oggettive?</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Per rispondere, abbiamo sviluppato un sistema basato su </a:t>
            </a:r>
            <a:r>
              <a:rPr b="1" lang="en-US" sz="1100">
                <a:latin typeface="Arial"/>
                <a:ea typeface="Arial"/>
                <a:cs typeface="Arial"/>
                <a:sym typeface="Arial"/>
              </a:rPr>
              <a:t>Computer Vision</a:t>
            </a:r>
            <a:r>
              <a:rPr lang="en-US" sz="1100">
                <a:latin typeface="Arial"/>
                <a:ea typeface="Arial"/>
                <a:cs typeface="Arial"/>
                <a:sym typeface="Arial"/>
              </a:rPr>
              <a:t>, capace di classificare immagini statiche in due categorie: </a:t>
            </a:r>
            <a:r>
              <a:rPr i="1" lang="en-US" sz="1100">
                <a:latin typeface="Arial"/>
                <a:ea typeface="Arial"/>
                <a:cs typeface="Arial"/>
                <a:sym typeface="Arial"/>
              </a:rPr>
              <a:t>fallo</a:t>
            </a:r>
            <a:r>
              <a:rPr lang="en-US" sz="1100">
                <a:latin typeface="Arial"/>
                <a:ea typeface="Arial"/>
                <a:cs typeface="Arial"/>
                <a:sym typeface="Arial"/>
              </a:rPr>
              <a:t> o </a:t>
            </a:r>
            <a:r>
              <a:rPr i="1" lang="en-US" sz="1100">
                <a:latin typeface="Arial"/>
                <a:ea typeface="Arial"/>
                <a:cs typeface="Arial"/>
                <a:sym typeface="Arial"/>
              </a:rPr>
              <a:t>intervento regolare</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85" name="Google Shape;85;g3617b676fc8_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617b676fc8_9_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Il problema di partenza è che la rilevazione dei falli nel calcio è spesso </a:t>
            </a:r>
            <a:r>
              <a:rPr b="1" lang="en-US" sz="1100">
                <a:latin typeface="Arial"/>
                <a:ea typeface="Arial"/>
                <a:cs typeface="Arial"/>
                <a:sym typeface="Arial"/>
              </a:rPr>
              <a:t>ambigua e soggettiva</a:t>
            </a:r>
            <a:r>
              <a:rPr lang="en-US" sz="1100">
                <a:latin typeface="Arial"/>
                <a:ea typeface="Arial"/>
                <a:cs typeface="Arial"/>
                <a:sym typeface="Arial"/>
              </a:rPr>
              <a:t>. Anche con il supporto del VAR, le decisioni possono variare da arbitro a arbitro.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Il nostro obiettivo è stato quindi quello di usare una rete neurale convoluzionale per </a:t>
            </a:r>
            <a:r>
              <a:rPr b="1" lang="en-US" sz="1100">
                <a:latin typeface="Arial"/>
                <a:ea typeface="Arial"/>
                <a:cs typeface="Arial"/>
                <a:sym typeface="Arial"/>
              </a:rPr>
              <a:t>automatizzare il riconoscimento dei falli</a:t>
            </a:r>
            <a:r>
              <a:rPr lang="en-US" sz="1100">
                <a:latin typeface="Arial"/>
                <a:ea typeface="Arial"/>
                <a:cs typeface="Arial"/>
                <a:sym typeface="Arial"/>
              </a:rPr>
              <a:t>, partendo da </a:t>
            </a:r>
            <a:r>
              <a:rPr b="1" lang="en-US" sz="1100">
                <a:latin typeface="Arial"/>
                <a:ea typeface="Arial"/>
                <a:cs typeface="Arial"/>
                <a:sym typeface="Arial"/>
              </a:rPr>
              <a:t>immagini statiche</a:t>
            </a:r>
            <a:r>
              <a:rPr lang="en-US" sz="1100">
                <a:latin typeface="Arial"/>
                <a:ea typeface="Arial"/>
                <a:cs typeface="Arial"/>
                <a:sym typeface="Arial"/>
              </a:rPr>
              <a:t> prese da video di partite.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Il task non è semplice: in una singola immagine non si vedono il movimento o l’intensità del contatto, ma abbiamo voluto verificare comunque se un modello potesse </a:t>
            </a:r>
            <a:r>
              <a:rPr b="1" lang="en-US" sz="1100">
                <a:latin typeface="Arial"/>
                <a:ea typeface="Arial"/>
                <a:cs typeface="Arial"/>
                <a:sym typeface="Arial"/>
              </a:rPr>
              <a:t>catturare pattern visivi</a:t>
            </a:r>
            <a:r>
              <a:rPr lang="en-US" sz="1100">
                <a:latin typeface="Arial"/>
                <a:ea typeface="Arial"/>
                <a:cs typeface="Arial"/>
                <a:sym typeface="Arial"/>
              </a:rPr>
              <a:t> utili per distinguere tra </a:t>
            </a:r>
            <a:r>
              <a:rPr i="1" lang="en-US" sz="1100">
                <a:latin typeface="Arial"/>
                <a:ea typeface="Arial"/>
                <a:cs typeface="Arial"/>
                <a:sym typeface="Arial"/>
              </a:rPr>
              <a:t>fallo</a:t>
            </a:r>
            <a:r>
              <a:rPr lang="en-US" sz="1100">
                <a:latin typeface="Arial"/>
                <a:ea typeface="Arial"/>
                <a:cs typeface="Arial"/>
                <a:sym typeface="Arial"/>
              </a:rPr>
              <a:t> e </a:t>
            </a:r>
            <a:r>
              <a:rPr i="1" lang="en-US" sz="1100">
                <a:latin typeface="Arial"/>
                <a:ea typeface="Arial"/>
                <a:cs typeface="Arial"/>
                <a:sym typeface="Arial"/>
              </a:rPr>
              <a:t>intervento pulito</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rPr lang="en-US"/>
              <a:t>Abbiamo deciso di incentrare il nostro modello su:</a:t>
            </a:r>
            <a:endParaRPr/>
          </a:p>
          <a:p>
            <a:pPr indent="457200" lvl="0" marL="0" rtl="0" algn="l">
              <a:spcBef>
                <a:spcPts val="0"/>
              </a:spcBef>
              <a:spcAft>
                <a:spcPts val="0"/>
              </a:spcAft>
              <a:buNone/>
            </a:pPr>
            <a:r>
              <a:rPr lang="en-US"/>
              <a:t>una classificazione binaria delle immagini, fallo o no_fallo, </a:t>
            </a:r>
            <a:endParaRPr/>
          </a:p>
          <a:p>
            <a:pPr indent="457200" lvl="0" marL="0" rtl="0" algn="l">
              <a:spcBef>
                <a:spcPts val="0"/>
              </a:spcBef>
              <a:spcAft>
                <a:spcPts val="0"/>
              </a:spcAft>
              <a:buNone/>
            </a:pPr>
            <a:r>
              <a:rPr lang="en-US"/>
              <a:t>velocizzazione delle decisioni nelle partite di calcio</a:t>
            </a:r>
            <a:endParaRPr/>
          </a:p>
          <a:p>
            <a:pPr indent="457200" lvl="0" marL="0" rtl="0" algn="l">
              <a:spcBef>
                <a:spcPts val="0"/>
              </a:spcBef>
              <a:spcAft>
                <a:spcPts val="0"/>
              </a:spcAft>
              <a:buNone/>
            </a:pPr>
            <a:r>
              <a:rPr lang="en-US"/>
              <a:t>creare e strutturare una CNN leggera e personalizzata</a:t>
            </a:r>
            <a:endParaRPr/>
          </a:p>
        </p:txBody>
      </p:sp>
      <p:sp>
        <p:nvSpPr>
          <p:cNvPr id="96" name="Google Shape;96;g3617b676fc8_9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617b676fc8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617b676fc8_1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Per allenare il nostro modello, abbiamo utilizzato un </a:t>
            </a:r>
            <a:r>
              <a:rPr b="1" lang="en-US" sz="1100">
                <a:latin typeface="Arial"/>
                <a:ea typeface="Arial"/>
                <a:cs typeface="Arial"/>
                <a:sym typeface="Arial"/>
              </a:rPr>
              <a:t>dataset personalizzato</a:t>
            </a:r>
            <a:r>
              <a:rPr lang="en-US" sz="1100">
                <a:latin typeface="Arial"/>
                <a:ea typeface="Arial"/>
                <a:cs typeface="Arial"/>
                <a:sym typeface="Arial"/>
              </a:rPr>
              <a:t> chiamato </a:t>
            </a:r>
            <a:r>
              <a:rPr i="1" lang="en-US" sz="1100">
                <a:latin typeface="Arial"/>
                <a:ea typeface="Arial"/>
                <a:cs typeface="Arial"/>
                <a:sym typeface="Arial"/>
              </a:rPr>
              <a:t>Football Tackles</a:t>
            </a:r>
            <a:r>
              <a:rPr lang="en-US" sz="1100">
                <a:latin typeface="Arial"/>
                <a:ea typeface="Arial"/>
                <a:cs typeface="Arial"/>
                <a:sym typeface="Arial"/>
              </a:rPr>
              <a:t>, trovato su Kaggle.</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Il dataset contiene più di </a:t>
            </a:r>
            <a:r>
              <a:rPr b="1" lang="en-US" sz="1100">
                <a:latin typeface="Arial"/>
                <a:ea typeface="Arial"/>
                <a:cs typeface="Arial"/>
                <a:sym typeface="Arial"/>
              </a:rPr>
              <a:t>3300 immagini statiche</a:t>
            </a:r>
            <a:r>
              <a:rPr lang="en-US" sz="1100">
                <a:latin typeface="Arial"/>
                <a:ea typeface="Arial"/>
                <a:cs typeface="Arial"/>
                <a:sym typeface="Arial"/>
              </a:rPr>
              <a:t>, etichettate come </a:t>
            </a:r>
            <a:r>
              <a:rPr b="1" lang="en-US" sz="1100">
                <a:latin typeface="Arial"/>
                <a:ea typeface="Arial"/>
                <a:cs typeface="Arial"/>
                <a:sym typeface="Arial"/>
              </a:rPr>
              <a:t>“foul”</a:t>
            </a:r>
            <a:r>
              <a:rPr lang="en-US" sz="1100">
                <a:latin typeface="Arial"/>
                <a:ea typeface="Arial"/>
                <a:cs typeface="Arial"/>
                <a:sym typeface="Arial"/>
              </a:rPr>
              <a:t> o </a:t>
            </a:r>
            <a:r>
              <a:rPr b="1" lang="en-US" sz="1100">
                <a:latin typeface="Arial"/>
                <a:ea typeface="Arial"/>
                <a:cs typeface="Arial"/>
                <a:sym typeface="Arial"/>
              </a:rPr>
              <a:t>“clean tackle”</a:t>
            </a:r>
            <a:r>
              <a:rPr lang="en-US" sz="1100">
                <a:latin typeface="Arial"/>
                <a:ea typeface="Arial"/>
                <a:cs typeface="Arial"/>
                <a:sym typeface="Arial"/>
              </a:rPr>
              <a:t>.</a:t>
            </a:r>
            <a:br>
              <a:rPr lang="en-US" sz="1100">
                <a:latin typeface="Arial"/>
                <a:ea typeface="Arial"/>
                <a:cs typeface="Arial"/>
                <a:sym typeface="Arial"/>
              </a:rPr>
            </a:br>
            <a:r>
              <a:rPr lang="en-US" sz="1100">
                <a:latin typeface="Arial"/>
                <a:ea typeface="Arial"/>
                <a:cs typeface="Arial"/>
                <a:sym typeface="Arial"/>
              </a:rPr>
              <a:t>Le immagini provengono da spezzoni video e presentano grande </a:t>
            </a:r>
            <a:r>
              <a:rPr b="1" lang="en-US" sz="1100">
                <a:latin typeface="Arial"/>
                <a:ea typeface="Arial"/>
                <a:cs typeface="Arial"/>
                <a:sym typeface="Arial"/>
              </a:rPr>
              <a:t>varietà di contesti</a:t>
            </a:r>
            <a:r>
              <a:rPr lang="en-US" sz="1100">
                <a:latin typeface="Arial"/>
                <a:ea typeface="Arial"/>
                <a:cs typeface="Arial"/>
                <a:sym typeface="Arial"/>
              </a:rPr>
              <a:t>, angolazioni e condizioni di luce.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Abbiamo deciso in oltre di scaricare il database in locale, con l’utilizzo di google drive, per far si che il modello non debba ogni volta scaricare il database interamente da zero.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il database era costituito da diverse cartelle, quali var 200,400,500,600 con le sotto classi clean e foul.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a:p>
        </p:txBody>
      </p:sp>
      <p:sp>
        <p:nvSpPr>
          <p:cNvPr id="106" name="Google Shape;106;g3617b676fc8_1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19e6e1c7d_2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19e6e1c7d_2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Per uniformare la risoluzione delle immagini, tutte sono state ridimensionate a </a:t>
            </a:r>
            <a:r>
              <a:rPr b="1" lang="en-US">
                <a:latin typeface="Arial"/>
                <a:ea typeface="Arial"/>
                <a:cs typeface="Arial"/>
                <a:sym typeface="Arial"/>
              </a:rPr>
              <a:t>(224, 224)</a:t>
            </a:r>
            <a:r>
              <a:rPr lang="en-US">
                <a:latin typeface="Arial"/>
                <a:ea typeface="Arial"/>
                <a:cs typeface="Arial"/>
                <a:sym typeface="Arial"/>
              </a:rPr>
              <a:t> pixel. Le immagini valide sono state poi normalizzate e convertite in tensori per l’addestramento del modello.</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Per aumentare la capacità generalizzativa del modello ed evitare fenomeni di overfitting, sono state applicate tecniche di </a:t>
            </a:r>
            <a:r>
              <a:rPr b="1" lang="en-US">
                <a:latin typeface="Arial"/>
                <a:ea typeface="Arial"/>
                <a:cs typeface="Arial"/>
                <a:sym typeface="Arial"/>
              </a:rPr>
              <a:t>data augmentation</a:t>
            </a:r>
            <a:r>
              <a:rPr lang="en-US">
                <a:latin typeface="Arial"/>
                <a:ea typeface="Arial"/>
                <a:cs typeface="Arial"/>
                <a:sym typeface="Arial"/>
              </a:rPr>
              <a:t> su tutte le immagini del training set. In particolare, le trasformazioni applicate includono:</a:t>
            </a:r>
            <a:endParaRPr>
              <a:latin typeface="Arial"/>
              <a:ea typeface="Arial"/>
              <a:cs typeface="Arial"/>
              <a:sym typeface="Arial"/>
            </a:endParaRPr>
          </a:p>
          <a:p>
            <a:pPr indent="-304800" lvl="0" marL="457200" rtl="0" algn="l">
              <a:lnSpc>
                <a:spcPct val="115000"/>
              </a:lnSpc>
              <a:spcBef>
                <a:spcPts val="1200"/>
              </a:spcBef>
              <a:spcAft>
                <a:spcPts val="0"/>
              </a:spcAft>
              <a:buClr>
                <a:schemeClr val="dk1"/>
              </a:buClr>
              <a:buSzPts val="1200"/>
              <a:buChar char="●"/>
            </a:pPr>
            <a:r>
              <a:rPr b="1" lang="en-US">
                <a:latin typeface="Arial"/>
                <a:ea typeface="Arial"/>
                <a:cs typeface="Arial"/>
                <a:sym typeface="Arial"/>
              </a:rPr>
              <a:t>Flip orizzontale casuale</a:t>
            </a:r>
            <a:endParaRPr b="1">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a:latin typeface="Arial"/>
                <a:ea typeface="Arial"/>
                <a:cs typeface="Arial"/>
                <a:sym typeface="Arial"/>
              </a:rPr>
              <a:t>Rotazione casuale</a:t>
            </a:r>
            <a:endParaRPr b="1">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a:latin typeface="Arial"/>
                <a:ea typeface="Arial"/>
                <a:cs typeface="Arial"/>
                <a:sym typeface="Arial"/>
              </a:rPr>
              <a:t>Modifica casuale della luminosità</a:t>
            </a:r>
            <a:endParaRPr b="1">
              <a:latin typeface="Arial"/>
              <a:ea typeface="Arial"/>
              <a:cs typeface="Arial"/>
              <a:sym typeface="Arial"/>
            </a:endParaRPr>
          </a:p>
          <a:p>
            <a:pPr indent="-304800" lvl="0" marL="457200" rtl="0" algn="l">
              <a:lnSpc>
                <a:spcPct val="115000"/>
              </a:lnSpc>
              <a:spcBef>
                <a:spcPts val="0"/>
              </a:spcBef>
              <a:spcAft>
                <a:spcPts val="0"/>
              </a:spcAft>
              <a:buClr>
                <a:schemeClr val="dk1"/>
              </a:buClr>
              <a:buSzPts val="1200"/>
              <a:buChar char="●"/>
            </a:pPr>
            <a:r>
              <a:rPr b="1" lang="en-US">
                <a:latin typeface="Arial"/>
                <a:ea typeface="Arial"/>
                <a:cs typeface="Arial"/>
                <a:sym typeface="Arial"/>
              </a:rPr>
              <a:t>Zoom e cropping casuale</a:t>
            </a:r>
            <a:endParaRPr b="1">
              <a:latin typeface="Arial"/>
              <a:ea typeface="Arial"/>
              <a:cs typeface="Arial"/>
              <a:sym typeface="Arial"/>
            </a:endParaRPr>
          </a:p>
          <a:p>
            <a:pPr indent="0" lvl="0" marL="0" rtl="0" algn="l">
              <a:lnSpc>
                <a:spcPct val="115000"/>
              </a:lnSpc>
              <a:spcBef>
                <a:spcPts val="1200"/>
              </a:spcBef>
              <a:spcAft>
                <a:spcPts val="0"/>
              </a:spcAft>
              <a:buNone/>
            </a:pPr>
            <a:r>
              <a:rPr lang="en-US">
                <a:latin typeface="Arial"/>
                <a:ea typeface="Arial"/>
                <a:cs typeface="Arial"/>
                <a:sym typeface="Arial"/>
              </a:rPr>
              <a:t>Tutte le operazioni di trasformazione sono state implementate mediante la libreria </a:t>
            </a:r>
            <a:r>
              <a:rPr lang="en-US">
                <a:solidFill>
                  <a:srgbClr val="188038"/>
                </a:solidFill>
                <a:latin typeface="Roboto Mono"/>
                <a:ea typeface="Roboto Mono"/>
                <a:cs typeface="Roboto Mono"/>
                <a:sym typeface="Roboto Mono"/>
              </a:rPr>
              <a:t>torchvision.transforms</a:t>
            </a:r>
            <a:r>
              <a:rPr lang="en-US">
                <a:latin typeface="Arial"/>
                <a:ea typeface="Arial"/>
                <a:cs typeface="Arial"/>
                <a:sym typeface="Arial"/>
              </a:rPr>
              <a:t>.</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300">
                <a:latin typeface="Arial"/>
                <a:ea typeface="Arial"/>
                <a:cs typeface="Arial"/>
                <a:sym typeface="Arial"/>
              </a:rPr>
              <a:t>Dataset Splitting e Formation</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Dopo aver pulito e verificato il dataset, lo abbiamo suddiviso in tre sottoinsiemi secondo le seguenti proporzioni:</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 Training set: 70%</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 Validation set: 15%</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 Test set: 15%</a:t>
            </a:r>
            <a:endParaRPr>
              <a:latin typeface="Arial"/>
              <a:ea typeface="Arial"/>
              <a:cs typeface="Arial"/>
              <a:sym typeface="Arial"/>
            </a:endParaRPr>
          </a:p>
          <a:p>
            <a:pPr indent="0" lvl="0" marL="0" rtl="0" algn="l">
              <a:spcBef>
                <a:spcPts val="1200"/>
              </a:spcBef>
              <a:spcAft>
                <a:spcPts val="0"/>
              </a:spcAft>
              <a:buNone/>
            </a:pPr>
            <a:r>
              <a:t/>
            </a:r>
            <a:endParaRPr/>
          </a:p>
        </p:txBody>
      </p:sp>
      <p:sp>
        <p:nvSpPr>
          <p:cNvPr id="118" name="Google Shape;118;g3619e6e1c7d_2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19e6e1c7d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619e6e1c7d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a:latin typeface="Arial"/>
                <a:ea typeface="Arial"/>
                <a:cs typeface="Arial"/>
                <a:sym typeface="Arial"/>
              </a:rPr>
              <a:t>Per il riconoscimento automatico di falli nel calcio da immagini, è stata progettata una rete neurale convoluzionale (CNN) personalizzata, denominata </a:t>
            </a:r>
            <a:r>
              <a:rPr lang="en-US">
                <a:solidFill>
                  <a:srgbClr val="188038"/>
                </a:solidFill>
                <a:latin typeface="Arial"/>
                <a:ea typeface="Arial"/>
                <a:cs typeface="Arial"/>
                <a:sym typeface="Arial"/>
              </a:rPr>
              <a:t>FoulClassifierCNN</a:t>
            </a:r>
            <a:r>
              <a:rPr lang="en-US">
                <a:latin typeface="Arial"/>
                <a:ea typeface="Arial"/>
                <a:cs typeface="Arial"/>
                <a:sym typeface="Arial"/>
              </a:rPr>
              <a:t>.</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 L'obiettivo del modello è classificare ciascuna immagine come contenente un fallo (fallo) o meno (no_fallo), ovvero un problema di classificazione binaria.</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L'architettura del modello è stata definita interamente da zero, senza utilizzare modelli pre-addestrati. È composta da una serie di blocchi convoluzionali seguiti da livelli di pooling e fully connected, secondo lo schema:</a:t>
            </a:r>
            <a:endParaRPr>
              <a:latin typeface="Arial"/>
              <a:ea typeface="Arial"/>
              <a:cs typeface="Arial"/>
              <a:sym typeface="Arial"/>
            </a:endParaRPr>
          </a:p>
          <a:p>
            <a:pPr indent="0" lvl="0" marL="0" rtl="0" algn="l">
              <a:spcBef>
                <a:spcPts val="0"/>
              </a:spcBef>
              <a:spcAft>
                <a:spcPts val="0"/>
              </a:spcAft>
              <a:buNone/>
            </a:pPr>
            <a:r>
              <a:t/>
            </a:r>
            <a:endParaRPr/>
          </a:p>
        </p:txBody>
      </p:sp>
      <p:sp>
        <p:nvSpPr>
          <p:cNvPr id="127" name="Google Shape;127;g3619e6e1c7d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19e6e1c7d_4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19e6e1c7d_4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Il nostro modello prende in input un’immagine singola di una partita di calcio e predice se si tratta di un </a:t>
            </a:r>
            <a:r>
              <a:rPr b="1" lang="en-US" sz="1100">
                <a:latin typeface="Arial"/>
                <a:ea typeface="Arial"/>
                <a:cs typeface="Arial"/>
                <a:sym typeface="Arial"/>
              </a:rPr>
              <a:t>fallo</a:t>
            </a:r>
            <a:r>
              <a:rPr lang="en-US" sz="1100">
                <a:latin typeface="Arial"/>
                <a:ea typeface="Arial"/>
                <a:cs typeface="Arial"/>
                <a:sym typeface="Arial"/>
              </a:rPr>
              <a:t> oppure no.</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Si tratta di una </a:t>
            </a:r>
            <a:r>
              <a:rPr b="1" lang="en-US" sz="1100">
                <a:latin typeface="Arial"/>
                <a:ea typeface="Arial"/>
                <a:cs typeface="Arial"/>
                <a:sym typeface="Arial"/>
              </a:rPr>
              <a:t>rete neurale convoluzionale (CNN)</a:t>
            </a:r>
            <a:r>
              <a:rPr lang="en-US" sz="1100">
                <a:latin typeface="Arial"/>
                <a:ea typeface="Arial"/>
                <a:cs typeface="Arial"/>
                <a:sym typeface="Arial"/>
              </a:rPr>
              <a:t> progettata da zero per un compito di </a:t>
            </a:r>
            <a:r>
              <a:rPr b="1" lang="en-US" sz="1100">
                <a:latin typeface="Arial"/>
                <a:ea typeface="Arial"/>
                <a:cs typeface="Arial"/>
                <a:sym typeface="Arial"/>
              </a:rPr>
              <a:t>classificazione binaria</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Struttura dell’architettura:</a:t>
            </a:r>
            <a:endParaRPr b="1" sz="13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Input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L’immagine in input ha dimensione </a:t>
            </a:r>
            <a:r>
              <a:rPr b="1" lang="en-US" sz="1100">
                <a:latin typeface="Arial"/>
                <a:ea typeface="Arial"/>
                <a:cs typeface="Arial"/>
                <a:sym typeface="Arial"/>
              </a:rPr>
              <a:t>224 × 224 × 3</a:t>
            </a:r>
            <a:r>
              <a:rPr lang="en-US" sz="1100">
                <a:latin typeface="Arial"/>
                <a:ea typeface="Arial"/>
                <a:cs typeface="Arial"/>
                <a:sym typeface="Arial"/>
              </a:rPr>
              <a:t> (RGB, quindi 3 canali di colore)</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100">
                <a:latin typeface="Arial"/>
                <a:ea typeface="Arial"/>
                <a:cs typeface="Arial"/>
                <a:sym typeface="Arial"/>
              </a:rPr>
              <a:t> Estrazione delle caratteristiche – 4 blocchi convoluzionali</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Ogni blocco esegue: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Conv2D</a:t>
            </a:r>
            <a:r>
              <a:rPr lang="en-US" sz="1100">
                <a:latin typeface="Arial"/>
                <a:ea typeface="Arial"/>
                <a:cs typeface="Arial"/>
                <a:sym typeface="Arial"/>
              </a:rPr>
              <a:t>: applica filtri 3×3 per riconoscere pattern visivi (es. bordi, forme, contrasti).</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Batch Normalization</a:t>
            </a:r>
            <a:r>
              <a:rPr lang="en-US" sz="1100">
                <a:latin typeface="Arial"/>
                <a:ea typeface="Arial"/>
                <a:cs typeface="Arial"/>
                <a:sym typeface="Arial"/>
              </a:rPr>
              <a:t>: normalizza i valori per migliorare la stabilità dell’allenamento.</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ReLU</a:t>
            </a:r>
            <a:r>
              <a:rPr lang="en-US" sz="1100">
                <a:latin typeface="Arial"/>
                <a:ea typeface="Arial"/>
                <a:cs typeface="Arial"/>
                <a:sym typeface="Arial"/>
              </a:rPr>
              <a:t>: funzione di attivazione che introduce non-linearità.</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MaxPooling</a:t>
            </a:r>
            <a:r>
              <a:rPr lang="en-US" sz="1100">
                <a:latin typeface="Arial"/>
                <a:ea typeface="Arial"/>
                <a:cs typeface="Arial"/>
                <a:sym typeface="Arial"/>
              </a:rPr>
              <a:t>: riduce la dimensione spaziale, tenendo le informazioni più rilevanti.</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Dopo ogni blocco, l’immagine si riduce in altezza e larghezza, ma aumenta in profondità (cioè nel numero di canali):</a:t>
            </a:r>
            <a:br>
              <a:rPr lang="en-US" sz="1100">
                <a:latin typeface="Arial"/>
                <a:ea typeface="Arial"/>
                <a:cs typeface="Arial"/>
                <a:sym typeface="Arial"/>
              </a:rPr>
            </a:br>
            <a:r>
              <a:rPr b="1" lang="en-US" sz="1100">
                <a:latin typeface="Arial"/>
                <a:ea typeface="Arial"/>
                <a:cs typeface="Arial"/>
                <a:sym typeface="Arial"/>
              </a:rPr>
              <a:t>224×224 → 112×112 → 56×56 → 28×28</a:t>
            </a:r>
            <a:r>
              <a:rPr lang="en-US" sz="1100">
                <a:latin typeface="Arial"/>
                <a:ea typeface="Arial"/>
                <a:cs typeface="Arial"/>
                <a:sym typeface="Arial"/>
              </a:rPr>
              <a:t>, fino a comprimersi in </a:t>
            </a:r>
            <a:r>
              <a:rPr b="1" lang="en-US" sz="1100">
                <a:latin typeface="Arial"/>
                <a:ea typeface="Arial"/>
                <a:cs typeface="Arial"/>
                <a:sym typeface="Arial"/>
              </a:rPr>
              <a:t>1×1×256</a:t>
            </a:r>
            <a:r>
              <a:rPr lang="en-US" sz="1100">
                <a:latin typeface="Arial"/>
                <a:ea typeface="Arial"/>
                <a:cs typeface="Arial"/>
                <a:sym typeface="Arial"/>
              </a:rPr>
              <a:t> con </a:t>
            </a:r>
            <a:r>
              <a:rPr b="1" lang="en-US" sz="1100">
                <a:latin typeface="Arial"/>
                <a:ea typeface="Arial"/>
                <a:cs typeface="Arial"/>
                <a:sym typeface="Arial"/>
              </a:rPr>
              <a:t>Adaptive Average Pooling</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 rete termina con uno o più strati fully connected che svolgono la funzione di classificazione, traducendo le feature estratte in una probabilità associata alle due classi: "fallo" o "no_fallo".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 Layer di Flatten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Questo livello trasforma l’output della parte convoluzionale (1×1×256) in un </a:t>
            </a:r>
            <a:r>
              <a:rPr b="1" lang="en-US" sz="1100">
                <a:latin typeface="Arial"/>
                <a:ea typeface="Arial"/>
                <a:cs typeface="Arial"/>
                <a:sym typeface="Arial"/>
              </a:rPr>
              <a:t>vettore lungo 256 elementi</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Questo vettore rappresenta le caratteristiche più rilevanti dell’immagine.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Strato Fully Connected + Dropout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Un primo livello denso riduce il vettore da </a:t>
            </a:r>
            <a:r>
              <a:rPr b="1" lang="en-US" sz="1100">
                <a:latin typeface="Arial"/>
                <a:ea typeface="Arial"/>
                <a:cs typeface="Arial"/>
                <a:sym typeface="Arial"/>
              </a:rPr>
              <a:t>256 a 128</a:t>
            </a:r>
            <a:r>
              <a:rPr lang="en-US" sz="1100">
                <a:latin typeface="Arial"/>
                <a:ea typeface="Arial"/>
                <a:cs typeface="Arial"/>
                <a:sym typeface="Arial"/>
              </a:rPr>
              <a:t> neuroni.</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Un livello di </a:t>
            </a:r>
            <a:r>
              <a:rPr b="1" lang="en-US" sz="1100">
                <a:latin typeface="Arial"/>
                <a:ea typeface="Arial"/>
                <a:cs typeface="Arial"/>
                <a:sym typeface="Arial"/>
              </a:rPr>
              <a:t>Dropout</a:t>
            </a:r>
            <a:r>
              <a:rPr lang="en-US" sz="1100">
                <a:latin typeface="Arial"/>
                <a:ea typeface="Arial"/>
                <a:cs typeface="Arial"/>
                <a:sym typeface="Arial"/>
              </a:rPr>
              <a:t> spegne casualmente alcuni neuroni per evitare l’overfitting.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Un secondo livello denso porta da </a:t>
            </a:r>
            <a:r>
              <a:rPr b="1" lang="en-US" sz="1100">
                <a:latin typeface="Arial"/>
                <a:ea typeface="Arial"/>
                <a:cs typeface="Arial"/>
                <a:sym typeface="Arial"/>
              </a:rPr>
              <a:t>128 a 2</a:t>
            </a:r>
            <a:r>
              <a:rPr lang="en-US" sz="1100">
                <a:latin typeface="Arial"/>
                <a:ea typeface="Arial"/>
                <a:cs typeface="Arial"/>
                <a:sym typeface="Arial"/>
              </a:rPr>
              <a:t>, cioè alle due classi finali.</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 Output – Softmax</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Viene applicata la </a:t>
            </a:r>
            <a:r>
              <a:rPr b="1" lang="en-US" sz="1100">
                <a:latin typeface="Arial"/>
                <a:ea typeface="Arial"/>
                <a:cs typeface="Arial"/>
                <a:sym typeface="Arial"/>
              </a:rPr>
              <a:t>funzione Softmax</a:t>
            </a:r>
            <a:r>
              <a:rPr lang="en-US" sz="1100">
                <a:latin typeface="Arial"/>
                <a:ea typeface="Arial"/>
                <a:cs typeface="Arial"/>
                <a:sym typeface="Arial"/>
              </a:rPr>
              <a:t> per trasformare i due numeri finali in </a:t>
            </a:r>
            <a:r>
              <a:rPr b="1" lang="en-US" sz="1100">
                <a:latin typeface="Arial"/>
                <a:ea typeface="Arial"/>
                <a:cs typeface="Arial"/>
                <a:sym typeface="Arial"/>
              </a:rPr>
              <a:t>probabilità</a:t>
            </a:r>
            <a:r>
              <a:rPr lang="en-US"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una per la classe </a:t>
            </a:r>
            <a:r>
              <a:rPr b="1" lang="en-US" sz="1100">
                <a:latin typeface="Arial"/>
                <a:ea typeface="Arial"/>
                <a:cs typeface="Arial"/>
                <a:sym typeface="Arial"/>
              </a:rPr>
              <a:t>fallo</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una per la classe </a:t>
            </a:r>
            <a:r>
              <a:rPr b="1" lang="en-US" sz="1100">
                <a:latin typeface="Arial"/>
                <a:ea typeface="Arial"/>
                <a:cs typeface="Arial"/>
                <a:sym typeface="Arial"/>
              </a:rPr>
              <a:t>non fallo</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138" name="Google Shape;138;g3619e6e1c7d_4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619e6e1c7d_9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619e6e1c7d_9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Una volta definita l'architettura del modello, è stata avviata la fase di addestramento, suddivisa in </a:t>
            </a:r>
            <a:r>
              <a:rPr b="1" lang="en-US">
                <a:latin typeface="Arial"/>
                <a:ea typeface="Arial"/>
                <a:cs typeface="Arial"/>
                <a:sym typeface="Arial"/>
              </a:rPr>
              <a:t>tre momenti principali:</a:t>
            </a:r>
            <a:endParaRPr b="1">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lang="en-US">
                <a:latin typeface="Arial"/>
                <a:ea typeface="Arial"/>
                <a:cs typeface="Arial"/>
                <a:sym typeface="Arial"/>
              </a:rPr>
              <a:t>Un primo addestramento del modello</a:t>
            </a:r>
            <a:endParaRPr>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a:latin typeface="Arial"/>
                <a:ea typeface="Arial"/>
                <a:cs typeface="Arial"/>
                <a:sym typeface="Arial"/>
              </a:rPr>
              <a:t>Fase di tuning e validazione, per identificare la miglior combinazione di iperparametri.</a:t>
            </a:r>
            <a:endParaRPr>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lang="en-US">
                <a:latin typeface="Arial"/>
                <a:ea typeface="Arial"/>
                <a:cs typeface="Arial"/>
                <a:sym typeface="Arial"/>
              </a:rPr>
              <a:t>Fase di training finale, eseguita sull'intero dataset (training + validation) con la configurazione ottimale.</a:t>
            </a:r>
            <a:endParaRPr>
              <a:latin typeface="Arial"/>
              <a:ea typeface="Arial"/>
              <a:cs typeface="Arial"/>
              <a:sym typeface="Arial"/>
            </a:endParaRPr>
          </a:p>
          <a:p>
            <a:pPr indent="0" lvl="0" marL="0" rtl="0" algn="l">
              <a:lnSpc>
                <a:spcPct val="115000"/>
              </a:lnSpc>
              <a:spcBef>
                <a:spcPts val="1200"/>
              </a:spcBef>
              <a:spcAft>
                <a:spcPts val="0"/>
              </a:spcAft>
              <a:buNone/>
            </a:pPr>
            <a:r>
              <a:rPr lang="en-US">
                <a:latin typeface="Arial"/>
                <a:ea typeface="Arial"/>
                <a:cs typeface="Arial"/>
                <a:sym typeface="Arial"/>
              </a:rPr>
              <a:t>La fase di addestramento è stata progettata per essere robusta, tracciabile e facilmente ottimizzabile. L’obiettivo era non solo migliorare le prestazioni del modello, ma anche prevenire fenomeni come overfitting o underfitting. </a:t>
            </a:r>
            <a:endParaRPr>
              <a:latin typeface="Arial"/>
              <a:ea typeface="Arial"/>
              <a:cs typeface="Arial"/>
              <a:sym typeface="Arial"/>
            </a:endParaRPr>
          </a:p>
          <a:p>
            <a:pPr indent="0" lvl="0" marL="0" rtl="0" algn="l">
              <a:lnSpc>
                <a:spcPct val="115000"/>
              </a:lnSpc>
              <a:spcBef>
                <a:spcPts val="0"/>
              </a:spcBef>
              <a:spcAft>
                <a:spcPts val="0"/>
              </a:spcAft>
              <a:buNone/>
            </a:pPr>
            <a:r>
              <a:t/>
            </a:r>
            <a:endParaRPr>
              <a:latin typeface="Arial"/>
              <a:ea typeface="Arial"/>
              <a:cs typeface="Arial"/>
              <a:sym typeface="Arial"/>
            </a:endParaRPr>
          </a:p>
          <a:p>
            <a:pPr indent="0" lvl="0" marL="0" rtl="0" algn="l">
              <a:lnSpc>
                <a:spcPct val="115000"/>
              </a:lnSpc>
              <a:spcBef>
                <a:spcPts val="0"/>
              </a:spcBef>
              <a:spcAft>
                <a:spcPts val="0"/>
              </a:spcAft>
              <a:buNone/>
            </a:pPr>
            <a:r>
              <a:rPr lang="en-US">
                <a:latin typeface="Arial"/>
                <a:ea typeface="Arial"/>
                <a:cs typeface="Arial"/>
                <a:sym typeface="Arial"/>
              </a:rPr>
              <a:t>Come funzione di perdita abbiamo usato la CrossEntropyLoss, che è standard per i problemi di classificazione. L’ottimizzatore scelto è stato Adam, noto per la sua stabilità e capacità di adattarsi, con un learning rate iniziale impostato a 1e-4. Inoltre, abbiamo implementato un meccanismo di early stopping </a:t>
            </a:r>
            <a:r>
              <a:rPr b="1" lang="en-US">
                <a:latin typeface="Arial"/>
                <a:ea typeface="Arial"/>
                <a:cs typeface="Arial"/>
                <a:sym typeface="Arial"/>
              </a:rPr>
              <a:t>con una pazienza di 10 epoche</a:t>
            </a:r>
            <a:r>
              <a:rPr lang="en-US">
                <a:latin typeface="Arial"/>
                <a:ea typeface="Arial"/>
                <a:cs typeface="Arial"/>
                <a:sym typeface="Arial"/>
              </a:rPr>
              <a:t>, cioè il training si interrompe se la loss di validazione non migliora per 10 epoche consecutive, in modo da evitare l’overfitting. </a:t>
            </a:r>
            <a:endParaRPr>
              <a:latin typeface="Arial"/>
              <a:ea typeface="Arial"/>
              <a:cs typeface="Arial"/>
              <a:sym typeface="Arial"/>
            </a:endParaRPr>
          </a:p>
          <a:p>
            <a:pPr indent="0" lvl="0" marL="0" rtl="0" algn="l">
              <a:lnSpc>
                <a:spcPct val="115000"/>
              </a:lnSpc>
              <a:spcBef>
                <a:spcPts val="0"/>
              </a:spcBef>
              <a:spcAft>
                <a:spcPts val="0"/>
              </a:spcAft>
              <a:buNone/>
            </a:pPr>
            <a:r>
              <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Tutto il processo è stato</a:t>
            </a:r>
            <a:r>
              <a:rPr b="1" lang="en-US">
                <a:latin typeface="Arial"/>
                <a:ea typeface="Arial"/>
                <a:cs typeface="Arial"/>
                <a:sym typeface="Arial"/>
              </a:rPr>
              <a:t> monitorato in tempo reale con TensorBoard</a:t>
            </a:r>
            <a:r>
              <a:rPr lang="en-US">
                <a:latin typeface="Arial"/>
                <a:ea typeface="Arial"/>
                <a:cs typeface="Arial"/>
                <a:sym typeface="Arial"/>
              </a:rPr>
              <a:t>, che ci ha permesso di tenere sotto controllo loss e accuratezza.</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a:latin typeface="Arial"/>
                <a:ea typeface="Arial"/>
                <a:cs typeface="Arial"/>
                <a:sym typeface="Arial"/>
              </a:rPr>
              <a:t>HYPERPARAMETER TUNING:</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abbiamo effettuato il tuning degli iperparametri </a:t>
            </a:r>
            <a:r>
              <a:rPr b="1" lang="en-US">
                <a:latin typeface="Arial"/>
                <a:ea typeface="Arial"/>
                <a:cs typeface="Arial"/>
                <a:sym typeface="Arial"/>
              </a:rPr>
              <a:t>utilizzando Optuna</a:t>
            </a:r>
            <a:r>
              <a:rPr lang="en-US">
                <a:latin typeface="Arial"/>
                <a:ea typeface="Arial"/>
                <a:cs typeface="Arial"/>
                <a:sym typeface="Arial"/>
              </a:rPr>
              <a:t>, una libreria di ottimizzazione bayesiana che ci ha permesso di cercare in modo automatico la migliore combinazione di parametri fondamentali: </a:t>
            </a:r>
            <a:endParaRPr>
              <a:latin typeface="Arial"/>
              <a:ea typeface="Arial"/>
              <a:cs typeface="Arial"/>
              <a:sym typeface="Arial"/>
            </a:endParaRPr>
          </a:p>
          <a:p>
            <a:pPr indent="-317500" lvl="0" marL="457200" rtl="0" algn="l">
              <a:lnSpc>
                <a:spcPct val="115000"/>
              </a:lnSpc>
              <a:spcBef>
                <a:spcPts val="1200"/>
              </a:spcBef>
              <a:spcAft>
                <a:spcPts val="0"/>
              </a:spcAft>
              <a:buClr>
                <a:schemeClr val="dk1"/>
              </a:buClr>
              <a:buSzPts val="1400"/>
              <a:buChar char="●"/>
            </a:pPr>
            <a:r>
              <a:rPr lang="en-US">
                <a:latin typeface="Arial"/>
                <a:ea typeface="Arial"/>
                <a:cs typeface="Arial"/>
                <a:sym typeface="Arial"/>
              </a:rPr>
              <a:t>il learning rate, </a:t>
            </a:r>
            <a:endParaRPr>
              <a:latin typeface="Arial"/>
              <a:ea typeface="Arial"/>
              <a:cs typeface="Arial"/>
              <a:sym typeface="Arial"/>
            </a:endParaRPr>
          </a:p>
          <a:p>
            <a:pPr indent="-317500" lvl="0" marL="457200" rtl="0" algn="l">
              <a:lnSpc>
                <a:spcPct val="115000"/>
              </a:lnSpc>
              <a:spcBef>
                <a:spcPts val="0"/>
              </a:spcBef>
              <a:spcAft>
                <a:spcPts val="0"/>
              </a:spcAft>
              <a:buClr>
                <a:schemeClr val="dk1"/>
              </a:buClr>
              <a:buSzPts val="1400"/>
              <a:buChar char="●"/>
            </a:pPr>
            <a:r>
              <a:rPr lang="en-US">
                <a:latin typeface="Arial"/>
                <a:ea typeface="Arial"/>
                <a:cs typeface="Arial"/>
                <a:sym typeface="Arial"/>
              </a:rPr>
              <a:t>la dimensione del batch </a:t>
            </a:r>
            <a:endParaRPr>
              <a:latin typeface="Arial"/>
              <a:ea typeface="Arial"/>
              <a:cs typeface="Arial"/>
              <a:sym typeface="Arial"/>
            </a:endParaRPr>
          </a:p>
          <a:p>
            <a:pPr indent="-317500" lvl="0" marL="457200" rtl="0" algn="l">
              <a:lnSpc>
                <a:spcPct val="115000"/>
              </a:lnSpc>
              <a:spcBef>
                <a:spcPts val="0"/>
              </a:spcBef>
              <a:spcAft>
                <a:spcPts val="0"/>
              </a:spcAft>
              <a:buClr>
                <a:schemeClr val="dk1"/>
              </a:buClr>
              <a:buSzPts val="1400"/>
              <a:buChar char="●"/>
            </a:pPr>
            <a:r>
              <a:rPr lang="en-US">
                <a:latin typeface="Arial"/>
                <a:ea typeface="Arial"/>
                <a:cs typeface="Arial"/>
                <a:sym typeface="Arial"/>
              </a:rPr>
              <a:t> il tasso di dropout.</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 Il learning rate è stato esplorato su una scala logaritmica da 1e-5 a 1e-2, il batch size tra 32 e 64, e il dropout tra 0.2 e 0.5.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Per ogni trial abbiamo ricostruito il modello con i parametri suggeriti e addestrato il modello per 10 epoche. Dopo la valutazione sull’accuracy del validation set, il processo è stato ripetuto due volte e abbiamo scelto la configurazione migliore in base ai risultati.</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Infine, una volta trovati gli iperparametri ottimali, abbiamo</a:t>
            </a:r>
            <a:r>
              <a:rPr b="1" lang="en-US">
                <a:latin typeface="Arial"/>
                <a:ea typeface="Arial"/>
                <a:cs typeface="Arial"/>
                <a:sym typeface="Arial"/>
              </a:rPr>
              <a:t> unito il training set e il validation set</a:t>
            </a:r>
            <a:r>
              <a:rPr lang="en-US">
                <a:latin typeface="Arial"/>
                <a:ea typeface="Arial"/>
                <a:cs typeface="Arial"/>
                <a:sym typeface="Arial"/>
              </a:rPr>
              <a:t> in un unico dataset più grande, per sfruttare al massimo tutti i dati disponibili.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Abbiamo ricostruito il modello con il dropout ottimale, configurato ottimizzatore e scheduler con i parametri migliori e avviato il training finale per 10 epoche sull’intero dataset. Il modello finale ottimizzato è stato salvato nel file best_model_optuna.pth, che rappresenta il risultato migliore ottenuto durante l’intero processo di addestramento.</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a:latin typeface="Arial"/>
              <a:ea typeface="Arial"/>
              <a:cs typeface="Arial"/>
              <a:sym typeface="Arial"/>
            </a:endParaRPr>
          </a:p>
        </p:txBody>
      </p:sp>
      <p:sp>
        <p:nvSpPr>
          <p:cNvPr id="200" name="Google Shape;200;g3619e6e1c7d_9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619e6e1c7d_2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619e6e1c7d_2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Dopo l’addestramento, il nostro modello ha raggiunto circa </a:t>
            </a:r>
            <a:r>
              <a:rPr b="1" lang="en-US" sz="1100">
                <a:latin typeface="Arial"/>
                <a:ea typeface="Arial"/>
                <a:cs typeface="Arial"/>
                <a:sym typeface="Arial"/>
              </a:rPr>
              <a:t>il 75% di accuratezza</a:t>
            </a:r>
            <a:r>
              <a:rPr lang="en-US" sz="1100">
                <a:latin typeface="Arial"/>
                <a:ea typeface="Arial"/>
                <a:cs typeface="Arial"/>
                <a:sym typeface="Arial"/>
              </a:rPr>
              <a:t> sul set di test.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Un risultato tutto sommato positivo, considerando la </a:t>
            </a:r>
            <a:r>
              <a:rPr b="1" lang="en-US" sz="1100">
                <a:latin typeface="Arial"/>
                <a:ea typeface="Arial"/>
                <a:cs typeface="Arial"/>
                <a:sym typeface="Arial"/>
              </a:rPr>
              <a:t>semplicità dell’architettura</a:t>
            </a:r>
            <a:r>
              <a:rPr lang="en-US" sz="1100">
                <a:latin typeface="Arial"/>
                <a:ea typeface="Arial"/>
                <a:cs typeface="Arial"/>
                <a:sym typeface="Arial"/>
              </a:rPr>
              <a:t> e la </a:t>
            </a:r>
            <a:r>
              <a:rPr b="1" lang="en-US" sz="1100">
                <a:latin typeface="Arial"/>
                <a:ea typeface="Arial"/>
                <a:cs typeface="Arial"/>
                <a:sym typeface="Arial"/>
              </a:rPr>
              <a:t>quantità limitata di dati</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Analizzando le performance per classe, abbiamo notato che il modello è particolarmente efficace nel riconoscere i </a:t>
            </a:r>
            <a:r>
              <a:rPr b="1" lang="en-US" sz="1100">
                <a:latin typeface="Arial"/>
                <a:ea typeface="Arial"/>
                <a:cs typeface="Arial"/>
                <a:sym typeface="Arial"/>
              </a:rPr>
              <a:t>falli</a:t>
            </a:r>
            <a:r>
              <a:rPr lang="en-US" sz="1100">
                <a:latin typeface="Arial"/>
                <a:ea typeface="Arial"/>
                <a:cs typeface="Arial"/>
                <a:sym typeface="Arial"/>
              </a:rPr>
              <a:t>, con un </a:t>
            </a:r>
            <a:r>
              <a:rPr b="1" lang="en-US" sz="1100">
                <a:latin typeface="Arial"/>
                <a:ea typeface="Arial"/>
                <a:cs typeface="Arial"/>
                <a:sym typeface="Arial"/>
              </a:rPr>
              <a:t>recall elevato</a:t>
            </a:r>
            <a:r>
              <a:rPr lang="en-US" sz="1100">
                <a:latin typeface="Arial"/>
                <a:ea typeface="Arial"/>
                <a:cs typeface="Arial"/>
                <a:sym typeface="Arial"/>
              </a:rPr>
              <a:t>: riesce cioè a individuare correttamente la maggior parte dei falli presenti.</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Invece, ha mostrato più difficoltà sui </a:t>
            </a:r>
            <a:r>
              <a:rPr b="1" lang="en-US" sz="1100">
                <a:latin typeface="Arial"/>
                <a:ea typeface="Arial"/>
                <a:cs typeface="Arial"/>
                <a:sym typeface="Arial"/>
              </a:rPr>
              <a:t>tackle puliti</a:t>
            </a:r>
            <a:r>
              <a:rPr lang="en-US" sz="1100">
                <a:latin typeface="Arial"/>
                <a:ea typeface="Arial"/>
                <a:cs typeface="Arial"/>
                <a:sym typeface="Arial"/>
              </a:rPr>
              <a:t>, dove tende a generare </a:t>
            </a:r>
            <a:r>
              <a:rPr b="1" lang="en-US" sz="1100">
                <a:latin typeface="Arial"/>
                <a:ea typeface="Arial"/>
                <a:cs typeface="Arial"/>
                <a:sym typeface="Arial"/>
              </a:rPr>
              <a:t>falsi positivi</a:t>
            </a:r>
            <a:r>
              <a:rPr lang="en-US" sz="1100">
                <a:latin typeface="Arial"/>
                <a:ea typeface="Arial"/>
                <a:cs typeface="Arial"/>
                <a:sym typeface="Arial"/>
              </a:rPr>
              <a:t>: cioè, alcune azioni corrette vengono scambiate per falli.</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CURVA ROC GRAFICO:</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La </a:t>
            </a:r>
            <a:r>
              <a:rPr b="1" lang="en-US" sz="1100">
                <a:latin typeface="Arial"/>
                <a:ea typeface="Arial"/>
                <a:cs typeface="Arial"/>
                <a:sym typeface="Arial"/>
              </a:rPr>
              <a:t>curva ROC</a:t>
            </a:r>
            <a:r>
              <a:rPr lang="en-US" sz="1100">
                <a:latin typeface="Arial"/>
                <a:ea typeface="Arial"/>
                <a:cs typeface="Arial"/>
                <a:sym typeface="Arial"/>
              </a:rPr>
              <a:t> è un grafico che mostra le prestazioni di un modello di classificazione binaria al variare della soglia di decisione.</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Asse X</a:t>
            </a:r>
            <a:r>
              <a:rPr lang="en-US" sz="1100">
                <a:latin typeface="Arial"/>
                <a:ea typeface="Arial"/>
                <a:cs typeface="Arial"/>
                <a:sym typeface="Arial"/>
              </a:rPr>
              <a:t>: </a:t>
            </a:r>
            <a:r>
              <a:rPr i="1" lang="en-US" sz="1100">
                <a:latin typeface="Arial"/>
                <a:ea typeface="Arial"/>
                <a:cs typeface="Arial"/>
                <a:sym typeface="Arial"/>
              </a:rPr>
              <a:t>False Positive Rate (FPR)</a:t>
            </a:r>
            <a:r>
              <a:rPr lang="en-US" sz="1100">
                <a:latin typeface="Arial"/>
                <a:ea typeface="Arial"/>
                <a:cs typeface="Arial"/>
                <a:sym typeface="Arial"/>
              </a:rPr>
              <a:t> = FP / (FP + TN)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Asse Y</a:t>
            </a:r>
            <a:r>
              <a:rPr lang="en-US" sz="1100">
                <a:latin typeface="Arial"/>
                <a:ea typeface="Arial"/>
                <a:cs typeface="Arial"/>
                <a:sym typeface="Arial"/>
              </a:rPr>
              <a:t>: </a:t>
            </a:r>
            <a:r>
              <a:rPr i="1" lang="en-US" sz="1100">
                <a:latin typeface="Arial"/>
                <a:ea typeface="Arial"/>
                <a:cs typeface="Arial"/>
                <a:sym typeface="Arial"/>
              </a:rPr>
              <a:t>True Positive Rate (TPR)</a:t>
            </a:r>
            <a:r>
              <a:rPr lang="en-US" sz="1100">
                <a:latin typeface="Arial"/>
                <a:ea typeface="Arial"/>
                <a:cs typeface="Arial"/>
                <a:sym typeface="Arial"/>
              </a:rPr>
              <a:t> = TP / (TP + FN), anche noto come </a:t>
            </a:r>
            <a:r>
              <a:rPr b="1" lang="en-US" sz="1100">
                <a:latin typeface="Arial"/>
                <a:ea typeface="Arial"/>
                <a:cs typeface="Arial"/>
                <a:sym typeface="Arial"/>
              </a:rPr>
              <a:t>Recall</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 curva ROC consente di valutare </a:t>
            </a:r>
            <a:r>
              <a:rPr b="1" lang="en-US" sz="1100">
                <a:latin typeface="Arial"/>
                <a:ea typeface="Arial"/>
                <a:cs typeface="Arial"/>
                <a:sym typeface="Arial"/>
              </a:rPr>
              <a:t>quanto bene il modello distingue tra le classi positive e negative</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Qui vediamo la curva ROC del nostro modello di classificazione. L’area sotto la curva, pari a </a:t>
            </a:r>
            <a:r>
              <a:rPr b="1" lang="en-US" sz="1100">
                <a:latin typeface="Arial"/>
                <a:ea typeface="Arial"/>
                <a:cs typeface="Arial"/>
                <a:sym typeface="Arial"/>
              </a:rPr>
              <a:t>0.83</a:t>
            </a:r>
            <a:r>
              <a:rPr lang="en-US" sz="1100">
                <a:latin typeface="Arial"/>
                <a:ea typeface="Arial"/>
                <a:cs typeface="Arial"/>
                <a:sym typeface="Arial"/>
              </a:rPr>
              <a:t>, indica che il modello ha una </a:t>
            </a:r>
            <a:r>
              <a:rPr b="1" lang="en-US" sz="1100">
                <a:latin typeface="Arial"/>
                <a:ea typeface="Arial"/>
                <a:cs typeface="Arial"/>
                <a:sym typeface="Arial"/>
              </a:rPr>
              <a:t>buona capacità discriminativa</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La curva sale rapidamente verso l’alto a sinistra, mostrando che a soglie più restrittive riusciamo a mantenere </a:t>
            </a:r>
            <a:r>
              <a:rPr b="1" lang="en-US" sz="1100">
                <a:latin typeface="Arial"/>
                <a:ea typeface="Arial"/>
                <a:cs typeface="Arial"/>
                <a:sym typeface="Arial"/>
              </a:rPr>
              <a:t>alta la sensibilità</a:t>
            </a:r>
            <a:r>
              <a:rPr lang="en-US" sz="1100">
                <a:latin typeface="Arial"/>
                <a:ea typeface="Arial"/>
                <a:cs typeface="Arial"/>
                <a:sym typeface="Arial"/>
              </a:rPr>
              <a:t> (true positive rate) contenendo il numero di </a:t>
            </a:r>
            <a:r>
              <a:rPr b="1" lang="en-US" sz="1100">
                <a:latin typeface="Arial"/>
                <a:ea typeface="Arial"/>
                <a:cs typeface="Arial"/>
                <a:sym typeface="Arial"/>
              </a:rPr>
              <a:t>falsi positivi</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Questo significa che il modello è efficace nel </a:t>
            </a:r>
            <a:r>
              <a:rPr b="1" lang="en-US" sz="1100">
                <a:latin typeface="Arial"/>
                <a:ea typeface="Arial"/>
                <a:cs typeface="Arial"/>
                <a:sym typeface="Arial"/>
              </a:rPr>
              <a:t>riconoscere i casi positivi</a:t>
            </a:r>
            <a:r>
              <a:rPr lang="en-US" sz="1100">
                <a:latin typeface="Arial"/>
                <a:ea typeface="Arial"/>
                <a:cs typeface="Arial"/>
                <a:sym typeface="Arial"/>
              </a:rPr>
              <a:t> senza fare troppe predizioni errate. È un buon punto di partenza per l’uso in produzione o per ulteriori ottimizzazioni."</a:t>
            </a:r>
            <a:endParaRPr/>
          </a:p>
        </p:txBody>
      </p:sp>
      <p:sp>
        <p:nvSpPr>
          <p:cNvPr id="211" name="Google Shape;211;g3619e6e1c7d_2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619e6e1c7d_2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619e6e1c7d_2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619e6e1c7d_2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blipFill>
          <a:blip r:embed="rId2">
            <a:alphaModFix/>
          </a:blip>
          <a:stretch>
            <a:fillRect/>
          </a:stretch>
        </a:blip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 slide layout">
  <p:cSld name="3_Agenda slide layout">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layout">
  <p:cSld name="Contents slide layout">
    <p:spTree>
      <p:nvGrpSpPr>
        <p:cNvPr id="14" name="Shape 14"/>
        <p:cNvGrpSpPr/>
        <p:nvPr/>
      </p:nvGrpSpPr>
      <p:grpSpPr>
        <a:xfrm>
          <a:off x="0" y="0"/>
          <a:ext cx="0" cy="0"/>
          <a:chOff x="0" y="0"/>
          <a:chExt cx="0" cy="0"/>
        </a:xfrm>
      </p:grpSpPr>
      <p:sp>
        <p:nvSpPr>
          <p:cNvPr id="15" name="Google Shape;15;p55"/>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16" name="Shape 16"/>
        <p:cNvGrpSpPr/>
        <p:nvPr/>
      </p:nvGrpSpPr>
      <p:grpSpPr>
        <a:xfrm>
          <a:off x="0" y="0"/>
          <a:ext cx="0" cy="0"/>
          <a:chOff x="0" y="0"/>
          <a:chExt cx="0" cy="0"/>
        </a:xfrm>
      </p:grpSpPr>
      <p:sp>
        <p:nvSpPr>
          <p:cNvPr id="17" name="Google Shape;17;p56"/>
          <p:cNvSpPr/>
          <p:nvPr>
            <p:ph idx="2" type="pic"/>
          </p:nvPr>
        </p:nvSpPr>
        <p:spPr>
          <a:xfrm>
            <a:off x="5140214" y="354163"/>
            <a:ext cx="1920975" cy="2212003"/>
          </a:xfrm>
          <a:prstGeom prst="rect">
            <a:avLst/>
          </a:prstGeom>
          <a:solidFill>
            <a:srgbClr val="F2F2F2"/>
          </a:solidFill>
          <a:ln>
            <a:noFill/>
          </a:ln>
        </p:spPr>
      </p:sp>
      <p:sp>
        <p:nvSpPr>
          <p:cNvPr id="18" name="Google Shape;18;p56"/>
          <p:cNvSpPr/>
          <p:nvPr>
            <p:ph idx="3" type="pic"/>
          </p:nvPr>
        </p:nvSpPr>
        <p:spPr>
          <a:xfrm>
            <a:off x="6198388" y="2357502"/>
            <a:ext cx="1920975" cy="2212003"/>
          </a:xfrm>
          <a:prstGeom prst="rect">
            <a:avLst/>
          </a:prstGeom>
          <a:solidFill>
            <a:srgbClr val="F2F2F2"/>
          </a:solidFill>
          <a:ln>
            <a:noFill/>
          </a:ln>
        </p:spPr>
      </p:sp>
      <p:sp>
        <p:nvSpPr>
          <p:cNvPr id="19" name="Google Shape;19;p56"/>
          <p:cNvSpPr/>
          <p:nvPr>
            <p:ph idx="4" type="pic"/>
          </p:nvPr>
        </p:nvSpPr>
        <p:spPr>
          <a:xfrm>
            <a:off x="5140214" y="4360841"/>
            <a:ext cx="1920975" cy="2212003"/>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ontents slide layout">
  <p:cSld name="5_Contents slide layout">
    <p:spTree>
      <p:nvGrpSpPr>
        <p:cNvPr id="20" name="Shape 20"/>
        <p:cNvGrpSpPr/>
        <p:nvPr/>
      </p:nvGrpSpPr>
      <p:grpSpPr>
        <a:xfrm>
          <a:off x="0" y="0"/>
          <a:ext cx="0" cy="0"/>
          <a:chOff x="0" y="0"/>
          <a:chExt cx="0" cy="0"/>
        </a:xfrm>
      </p:grpSpPr>
      <p:sp>
        <p:nvSpPr>
          <p:cNvPr id="21" name="Google Shape;21;p57"/>
          <p:cNvSpPr/>
          <p:nvPr>
            <p:ph idx="2" type="pic"/>
          </p:nvPr>
        </p:nvSpPr>
        <p:spPr>
          <a:xfrm>
            <a:off x="0" y="0"/>
            <a:ext cx="12191999" cy="68580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s slide layout">
  <p:cSld name="6_Contents slide layout">
    <p:bg>
      <p:bgPr>
        <a:blipFill>
          <a:blip r:embed="rId2">
            <a:alphaModFix/>
          </a:blip>
          <a:stretch>
            <a:fillRect/>
          </a:stretch>
        </a:blipFill>
      </p:bgPr>
    </p:bg>
    <p:spTree>
      <p:nvGrpSpPr>
        <p:cNvPr id="22" name="Shape 2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s slide layout">
  <p:cSld name="7_Contents slide layout">
    <p:spTree>
      <p:nvGrpSpPr>
        <p:cNvPr id="23" name="Shape 23"/>
        <p:cNvGrpSpPr/>
        <p:nvPr/>
      </p:nvGrpSpPr>
      <p:grpSpPr>
        <a:xfrm>
          <a:off x="0" y="0"/>
          <a:ext cx="0" cy="0"/>
          <a:chOff x="0" y="0"/>
          <a:chExt cx="0" cy="0"/>
        </a:xfrm>
      </p:grpSpPr>
      <p:grpSp>
        <p:nvGrpSpPr>
          <p:cNvPr id="24" name="Google Shape;24;p59"/>
          <p:cNvGrpSpPr/>
          <p:nvPr/>
        </p:nvGrpSpPr>
        <p:grpSpPr>
          <a:xfrm>
            <a:off x="4079368" y="2057112"/>
            <a:ext cx="4033264" cy="3172231"/>
            <a:chOff x="2444748" y="555045"/>
            <a:chExt cx="7282048" cy="5727454"/>
          </a:xfrm>
        </p:grpSpPr>
        <p:sp>
          <p:nvSpPr>
            <p:cNvPr id="25" name="Google Shape;25;p59"/>
            <p:cNvSpPr/>
            <p:nvPr/>
          </p:nvSpPr>
          <p:spPr>
            <a:xfrm>
              <a:off x="4964693" y="5443837"/>
              <a:ext cx="2168250" cy="818208"/>
            </a:xfrm>
            <a:custGeom>
              <a:rect b="b" l="l" r="r" t="t"/>
              <a:pathLst>
                <a:path extrusionOk="0" h="818207" w="2168250">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rgbClr val="BFBFBF"/>
                </a:gs>
                <a:gs pos="52999">
                  <a:srgbClr val="D8D8D8"/>
                </a:gs>
                <a:gs pos="83000">
                  <a:srgbClr val="BFBFBF"/>
                </a:gs>
                <a:gs pos="100000">
                  <a:srgbClr val="BFBFBF"/>
                </a:gs>
              </a:gsLst>
              <a:lin ang="162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59"/>
            <p:cNvSpPr/>
            <p:nvPr/>
          </p:nvSpPr>
          <p:spPr>
            <a:xfrm>
              <a:off x="2444748" y="555045"/>
              <a:ext cx="7282048" cy="4950157"/>
            </a:xfrm>
            <a:custGeom>
              <a:rect b="b" l="l" r="r" t="t"/>
              <a:pathLst>
                <a:path extrusionOk="0" h="4950157" w="7282048">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59"/>
            <p:cNvSpPr/>
            <p:nvPr/>
          </p:nvSpPr>
          <p:spPr>
            <a:xfrm>
              <a:off x="8706599" y="5435655"/>
              <a:ext cx="490925" cy="81821"/>
            </a:xfrm>
            <a:custGeom>
              <a:rect b="b" l="l" r="r" t="t"/>
              <a:pathLst>
                <a:path extrusionOk="0" h="81820" w="490924">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59"/>
            <p:cNvSpPr/>
            <p:nvPr/>
          </p:nvSpPr>
          <p:spPr>
            <a:xfrm>
              <a:off x="2481568" y="595956"/>
              <a:ext cx="7200228" cy="4336501"/>
            </a:xfrm>
            <a:custGeom>
              <a:rect b="b" l="l" r="r" t="t"/>
              <a:pathLst>
                <a:path extrusionOk="0" h="4336501" w="7200227">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59"/>
            <p:cNvSpPr/>
            <p:nvPr/>
          </p:nvSpPr>
          <p:spPr>
            <a:xfrm>
              <a:off x="4968919" y="6159768"/>
              <a:ext cx="2168250" cy="122731"/>
            </a:xfrm>
            <a:custGeom>
              <a:rect b="b" l="l" r="r" t="t"/>
              <a:pathLst>
                <a:path extrusionOk="0" h="122731" w="2168250">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rgbClr val="7F7F7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59"/>
            <p:cNvSpPr/>
            <p:nvPr/>
          </p:nvSpPr>
          <p:spPr>
            <a:xfrm>
              <a:off x="2481568" y="4903820"/>
              <a:ext cx="7200228" cy="572745"/>
            </a:xfrm>
            <a:custGeom>
              <a:rect b="b" l="l" r="r" t="t"/>
              <a:pathLst>
                <a:path extrusionOk="0" h="572745" w="7200227">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rgbClr val="BFBFB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59"/>
            <p:cNvSpPr/>
            <p:nvPr/>
          </p:nvSpPr>
          <p:spPr>
            <a:xfrm>
              <a:off x="2747714" y="910966"/>
              <a:ext cx="6676116" cy="3763756"/>
            </a:xfrm>
            <a:custGeom>
              <a:rect b="b" l="l" r="r" t="t"/>
              <a:pathLst>
                <a:path extrusionOk="0" h="3763755" w="6586571">
                  <a:moveTo>
                    <a:pt x="30683" y="30683"/>
                  </a:moveTo>
                  <a:lnTo>
                    <a:pt x="6564071" y="30683"/>
                  </a:lnTo>
                  <a:lnTo>
                    <a:pt x="6564071" y="3753528"/>
                  </a:lnTo>
                  <a:lnTo>
                    <a:pt x="30683" y="3753528"/>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59"/>
            <p:cNvSpPr/>
            <p:nvPr/>
          </p:nvSpPr>
          <p:spPr>
            <a:xfrm>
              <a:off x="5654591" y="939518"/>
              <a:ext cx="3769239" cy="3736342"/>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3" name="Google Shape;33;p59"/>
          <p:cNvSpPr/>
          <p:nvPr>
            <p:ph idx="2" type="pic"/>
          </p:nvPr>
        </p:nvSpPr>
        <p:spPr>
          <a:xfrm>
            <a:off x="4247170" y="2218668"/>
            <a:ext cx="3678250" cy="2155760"/>
          </a:xfrm>
          <a:prstGeom prst="rect">
            <a:avLst/>
          </a:prstGeom>
          <a:solidFill>
            <a:srgbClr val="F2F2F2"/>
          </a:solidFill>
          <a:ln>
            <a:noFill/>
          </a:ln>
        </p:spPr>
      </p:sp>
      <p:sp>
        <p:nvSpPr>
          <p:cNvPr id="34" name="Google Shape;34;p59"/>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ontents slide layout">
  <p:cSld name="8_Contents slide layout">
    <p:bg>
      <p:bgPr>
        <a:blipFill>
          <a:blip r:embed="rId2">
            <a:alphaModFix/>
          </a:blip>
          <a:stretch>
            <a:fillRect/>
          </a:stretch>
        </a:blipFill>
      </p:bgPr>
    </p:bg>
    <p:spTree>
      <p:nvGrpSpPr>
        <p:cNvPr id="35" name="Shape 35"/>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ontents slide layout">
  <p:cSld name="9_Contents slide layout">
    <p:spTree>
      <p:nvGrpSpPr>
        <p:cNvPr id="36" name="Shape 36"/>
        <p:cNvGrpSpPr/>
        <p:nvPr/>
      </p:nvGrpSpPr>
      <p:grpSpPr>
        <a:xfrm>
          <a:off x="0" y="0"/>
          <a:ext cx="0" cy="0"/>
          <a:chOff x="0" y="0"/>
          <a:chExt cx="0" cy="0"/>
        </a:xfrm>
      </p:grpSpPr>
      <p:sp>
        <p:nvSpPr>
          <p:cNvPr id="37" name="Google Shape;37;p61"/>
          <p:cNvSpPr/>
          <p:nvPr>
            <p:ph idx="2" type="pic"/>
          </p:nvPr>
        </p:nvSpPr>
        <p:spPr>
          <a:xfrm>
            <a:off x="4403035" y="0"/>
            <a:ext cx="7788965" cy="6858000"/>
          </a:xfrm>
          <a:prstGeom prst="rect">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ontents slide layout">
  <p:cSld name="10_Contents slide layout">
    <p:bg>
      <p:bgPr>
        <a:blipFill>
          <a:blip r:embed="rId2">
            <a:alphaModFix/>
          </a:blip>
          <a:stretch>
            <a:fillRect/>
          </a:stretch>
        </a:blipFill>
      </p:bgPr>
    </p:bg>
    <p:spTree>
      <p:nvGrpSpPr>
        <p:cNvPr id="38" name="Shape 3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ontents slide layout">
  <p:cSld name="11_Contents slide layout">
    <p:spTree>
      <p:nvGrpSpPr>
        <p:cNvPr id="39" name="Shape 39"/>
        <p:cNvGrpSpPr/>
        <p:nvPr/>
      </p:nvGrpSpPr>
      <p:grpSpPr>
        <a:xfrm>
          <a:off x="0" y="0"/>
          <a:ext cx="0" cy="0"/>
          <a:chOff x="0" y="0"/>
          <a:chExt cx="0" cy="0"/>
        </a:xfrm>
      </p:grpSpPr>
      <p:sp>
        <p:nvSpPr>
          <p:cNvPr id="40" name="Google Shape;40;p63"/>
          <p:cNvSpPr/>
          <p:nvPr>
            <p:ph idx="2" type="pic"/>
          </p:nvPr>
        </p:nvSpPr>
        <p:spPr>
          <a:xfrm>
            <a:off x="5724525" y="0"/>
            <a:ext cx="6467475" cy="68580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ontents slide layout">
  <p:cSld name="12_Contents slide layout">
    <p:bg>
      <p:bgPr>
        <a:blipFill>
          <a:blip r:embed="rId2">
            <a:alphaModFix/>
          </a:blip>
          <a:stretch>
            <a:fillRect/>
          </a:stretch>
        </a:blipFill>
      </p:bgPr>
    </p:bg>
    <p:spTree>
      <p:nvGrpSpPr>
        <p:cNvPr id="41" name="Shape 4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ontents slide layout">
  <p:cSld name="13_Contents slide layout">
    <p:spTree>
      <p:nvGrpSpPr>
        <p:cNvPr id="42" name="Shape 42"/>
        <p:cNvGrpSpPr/>
        <p:nvPr/>
      </p:nvGrpSpPr>
      <p:grpSpPr>
        <a:xfrm>
          <a:off x="0" y="0"/>
          <a:ext cx="0" cy="0"/>
          <a:chOff x="0" y="0"/>
          <a:chExt cx="0" cy="0"/>
        </a:xfrm>
      </p:grpSpPr>
      <p:grpSp>
        <p:nvGrpSpPr>
          <p:cNvPr id="43" name="Google Shape;43;p65"/>
          <p:cNvGrpSpPr/>
          <p:nvPr/>
        </p:nvGrpSpPr>
        <p:grpSpPr>
          <a:xfrm>
            <a:off x="8295412" y="1658804"/>
            <a:ext cx="3174949" cy="4282922"/>
            <a:chOff x="5745956" y="3501865"/>
            <a:chExt cx="2146216" cy="2895189"/>
          </a:xfrm>
        </p:grpSpPr>
        <p:sp>
          <p:nvSpPr>
            <p:cNvPr id="44" name="Google Shape;44;p65"/>
            <p:cNvSpPr/>
            <p:nvPr/>
          </p:nvSpPr>
          <p:spPr>
            <a:xfrm>
              <a:off x="7498806" y="3501865"/>
              <a:ext cx="157347" cy="62939"/>
            </a:xfrm>
            <a:custGeom>
              <a:rect b="b" l="l" r="r" t="t"/>
              <a:pathLst>
                <a:path extrusionOk="0" h="19050" w="47625">
                  <a:moveTo>
                    <a:pt x="45244" y="13811"/>
                  </a:moveTo>
                  <a:lnTo>
                    <a:pt x="45244" y="13811"/>
                  </a:lnTo>
                  <a:cubicBezTo>
                    <a:pt x="45244" y="17621"/>
                    <a:pt x="42386" y="20479"/>
                    <a:pt x="38576" y="20479"/>
                  </a:cubicBezTo>
                  <a:lnTo>
                    <a:pt x="13811" y="20479"/>
                  </a:lnTo>
                  <a:cubicBezTo>
                    <a:pt x="10001" y="20479"/>
                    <a:pt x="7144" y="17621"/>
                    <a:pt x="7144" y="13811"/>
                  </a:cubicBezTo>
                  <a:lnTo>
                    <a:pt x="7144" y="13811"/>
                  </a:lnTo>
                  <a:cubicBezTo>
                    <a:pt x="7144" y="10001"/>
                    <a:pt x="10001" y="7144"/>
                    <a:pt x="13811" y="7144"/>
                  </a:cubicBezTo>
                  <a:lnTo>
                    <a:pt x="38576" y="7144"/>
                  </a:lnTo>
                  <a:cubicBezTo>
                    <a:pt x="42386" y="8096"/>
                    <a:pt x="45244" y="10954"/>
                    <a:pt x="45244" y="13811"/>
                  </a:cubicBezTo>
                  <a:close/>
                </a:path>
              </a:pathLst>
            </a:custGeom>
            <a:solidFill>
              <a:srgbClr val="80808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65"/>
            <p:cNvSpPr/>
            <p:nvPr/>
          </p:nvSpPr>
          <p:spPr>
            <a:xfrm>
              <a:off x="7829233" y="3977052"/>
              <a:ext cx="62939" cy="157347"/>
            </a:xfrm>
            <a:custGeom>
              <a:rect b="b" l="l" r="r" t="t"/>
              <a:pathLst>
                <a:path extrusionOk="0" h="47625" w="19050">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65"/>
            <p:cNvSpPr/>
            <p:nvPr/>
          </p:nvSpPr>
          <p:spPr>
            <a:xfrm>
              <a:off x="7829233" y="3838586"/>
              <a:ext cx="62939" cy="157347"/>
            </a:xfrm>
            <a:custGeom>
              <a:rect b="b" l="l" r="r" t="t"/>
              <a:pathLst>
                <a:path extrusionOk="0" h="47625" w="19050">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65"/>
            <p:cNvSpPr/>
            <p:nvPr/>
          </p:nvSpPr>
          <p:spPr>
            <a:xfrm>
              <a:off x="5745956" y="3523892"/>
              <a:ext cx="2139922" cy="2863720"/>
            </a:xfrm>
            <a:custGeom>
              <a:rect b="b" l="l" r="r" t="t"/>
              <a:pathLst>
                <a:path extrusionOk="0" h="866775" w="647700">
                  <a:moveTo>
                    <a:pt x="611029" y="7144"/>
                  </a:moveTo>
                  <a:lnTo>
                    <a:pt x="40481" y="7144"/>
                  </a:lnTo>
                  <a:cubicBezTo>
                    <a:pt x="22384" y="7144"/>
                    <a:pt x="7144" y="22384"/>
                    <a:pt x="7144" y="41434"/>
                  </a:cubicBezTo>
                  <a:lnTo>
                    <a:pt x="7144" y="831056"/>
                  </a:lnTo>
                  <a:cubicBezTo>
                    <a:pt x="7144" y="850106"/>
                    <a:pt x="22384" y="865346"/>
                    <a:pt x="40481" y="865346"/>
                  </a:cubicBezTo>
                  <a:lnTo>
                    <a:pt x="611029" y="865346"/>
                  </a:lnTo>
                  <a:cubicBezTo>
                    <a:pt x="629126" y="865346"/>
                    <a:pt x="644366" y="850106"/>
                    <a:pt x="644366" y="831056"/>
                  </a:cubicBezTo>
                  <a:lnTo>
                    <a:pt x="644366" y="41434"/>
                  </a:lnTo>
                  <a:cubicBezTo>
                    <a:pt x="644366" y="23336"/>
                    <a:pt x="629126" y="7144"/>
                    <a:pt x="611029" y="7144"/>
                  </a:cubicBezTo>
                  <a:close/>
                </a:path>
              </a:pathLst>
            </a:custGeom>
            <a:solidFill>
              <a:srgbClr val="80808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65"/>
            <p:cNvSpPr/>
            <p:nvPr/>
          </p:nvSpPr>
          <p:spPr>
            <a:xfrm>
              <a:off x="5755398" y="3533334"/>
              <a:ext cx="2108453" cy="2863720"/>
            </a:xfrm>
            <a:custGeom>
              <a:rect b="b" l="l" r="r" t="t"/>
              <a:pathLst>
                <a:path extrusionOk="0" h="866775" w="638175">
                  <a:moveTo>
                    <a:pt x="605314" y="7144"/>
                  </a:moveTo>
                  <a:lnTo>
                    <a:pt x="40481" y="7144"/>
                  </a:lnTo>
                  <a:cubicBezTo>
                    <a:pt x="22384" y="7144"/>
                    <a:pt x="7144" y="22384"/>
                    <a:pt x="7144" y="41434"/>
                  </a:cubicBezTo>
                  <a:lnTo>
                    <a:pt x="7144" y="826294"/>
                  </a:lnTo>
                  <a:cubicBezTo>
                    <a:pt x="7144" y="845344"/>
                    <a:pt x="22384" y="860584"/>
                    <a:pt x="40481" y="860584"/>
                  </a:cubicBezTo>
                  <a:lnTo>
                    <a:pt x="604361" y="860584"/>
                  </a:lnTo>
                  <a:cubicBezTo>
                    <a:pt x="622459" y="860584"/>
                    <a:pt x="637699" y="845344"/>
                    <a:pt x="637699" y="826294"/>
                  </a:cubicBezTo>
                  <a:lnTo>
                    <a:pt x="637699" y="41434"/>
                  </a:lnTo>
                  <a:cubicBezTo>
                    <a:pt x="637699" y="22384"/>
                    <a:pt x="623411" y="7144"/>
                    <a:pt x="605314" y="7144"/>
                  </a:cubicBezTo>
                  <a:close/>
                </a:path>
              </a:pathLst>
            </a:custGeom>
            <a:solidFill>
              <a:srgbClr val="231F2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65"/>
            <p:cNvSpPr/>
            <p:nvPr/>
          </p:nvSpPr>
          <p:spPr>
            <a:xfrm>
              <a:off x="5972536" y="3781941"/>
              <a:ext cx="1699350" cy="2360208"/>
            </a:xfrm>
            <a:custGeom>
              <a:rect b="b" l="l" r="r" t="t"/>
              <a:pathLst>
                <a:path extrusionOk="0" h="714375" w="514350">
                  <a:moveTo>
                    <a:pt x="7144" y="7144"/>
                  </a:moveTo>
                  <a:lnTo>
                    <a:pt x="508159" y="7144"/>
                  </a:lnTo>
                  <a:lnTo>
                    <a:pt x="508159" y="711041"/>
                  </a:lnTo>
                  <a:lnTo>
                    <a:pt x="7144" y="71104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0" name="Google Shape;50;p65"/>
            <p:cNvSpPr/>
            <p:nvPr/>
          </p:nvSpPr>
          <p:spPr>
            <a:xfrm>
              <a:off x="6537278" y="3804313"/>
              <a:ext cx="1119116" cy="2330356"/>
            </a:xfrm>
            <a:custGeom>
              <a:rect b="b" l="l" r="r" t="t"/>
              <a:pathLst>
                <a:path extrusionOk="0" h="2330356" w="111911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51" name="Google Shape;51;p65"/>
            <p:cNvGrpSpPr/>
            <p:nvPr/>
          </p:nvGrpSpPr>
          <p:grpSpPr>
            <a:xfrm>
              <a:off x="6752948" y="6198983"/>
              <a:ext cx="113352" cy="113352"/>
              <a:chOff x="6768693" y="6038239"/>
              <a:chExt cx="147969" cy="147969"/>
            </a:xfrm>
          </p:grpSpPr>
          <p:sp>
            <p:nvSpPr>
              <p:cNvPr id="52" name="Google Shape;52;p65"/>
              <p:cNvSpPr/>
              <p:nvPr/>
            </p:nvSpPr>
            <p:spPr>
              <a:xfrm>
                <a:off x="6768693" y="6038239"/>
                <a:ext cx="147969" cy="147969"/>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 name="Google Shape;53;p65"/>
              <p:cNvSpPr/>
              <p:nvPr/>
            </p:nvSpPr>
            <p:spPr>
              <a:xfrm>
                <a:off x="6802088" y="6071634"/>
                <a:ext cx="81180" cy="81180"/>
              </a:xfrm>
              <a:prstGeom prst="ellips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54" name="Google Shape;54;p65"/>
          <p:cNvGrpSpPr/>
          <p:nvPr/>
        </p:nvGrpSpPr>
        <p:grpSpPr>
          <a:xfrm>
            <a:off x="6823319" y="3202196"/>
            <a:ext cx="1656867" cy="2912686"/>
            <a:chOff x="7182034" y="5192864"/>
            <a:chExt cx="825553" cy="1451279"/>
          </a:xfrm>
        </p:grpSpPr>
        <p:grpSp>
          <p:nvGrpSpPr>
            <p:cNvPr id="55" name="Google Shape;55;p65"/>
            <p:cNvGrpSpPr/>
            <p:nvPr/>
          </p:nvGrpSpPr>
          <p:grpSpPr>
            <a:xfrm>
              <a:off x="7182034" y="5192864"/>
              <a:ext cx="825553" cy="1451279"/>
              <a:chOff x="445712" y="1449040"/>
              <a:chExt cx="2113018" cy="3924176"/>
            </a:xfrm>
          </p:grpSpPr>
          <p:sp>
            <p:nvSpPr>
              <p:cNvPr id="56" name="Google Shape;56;p65"/>
              <p:cNvSpPr/>
              <p:nvPr/>
            </p:nvSpPr>
            <p:spPr>
              <a:xfrm>
                <a:off x="445712" y="1449040"/>
                <a:ext cx="2113018" cy="3924176"/>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 name="Google Shape;57;p65"/>
              <p:cNvSpPr/>
              <p:nvPr/>
            </p:nvSpPr>
            <p:spPr>
              <a:xfrm>
                <a:off x="1379920" y="1650572"/>
                <a:ext cx="216024" cy="34350"/>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8" name="Google Shape;58;p65"/>
              <p:cNvGrpSpPr/>
              <p:nvPr/>
            </p:nvGrpSpPr>
            <p:grpSpPr>
              <a:xfrm>
                <a:off x="1407705" y="5045834"/>
                <a:ext cx="211967" cy="211967"/>
                <a:chOff x="1549420" y="5712364"/>
                <a:chExt cx="312583" cy="312583"/>
              </a:xfrm>
            </p:grpSpPr>
            <p:sp>
              <p:nvSpPr>
                <p:cNvPr id="59" name="Google Shape;59;p65"/>
                <p:cNvSpPr/>
                <p:nvPr/>
              </p:nvSpPr>
              <p:spPr>
                <a:xfrm>
                  <a:off x="1549420" y="5712364"/>
                  <a:ext cx="312583" cy="312583"/>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65"/>
                <p:cNvSpPr/>
                <p:nvPr/>
              </p:nvSpPr>
              <p:spPr>
                <a:xfrm>
                  <a:off x="1634225" y="5796647"/>
                  <a:ext cx="142969" cy="144016"/>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61" name="Google Shape;61;p65"/>
            <p:cNvGrpSpPr/>
            <p:nvPr/>
          </p:nvGrpSpPr>
          <p:grpSpPr>
            <a:xfrm>
              <a:off x="7210904" y="5333460"/>
              <a:ext cx="734603" cy="1136247"/>
              <a:chOff x="7224494" y="5344134"/>
              <a:chExt cx="734603" cy="1189257"/>
            </a:xfrm>
          </p:grpSpPr>
          <p:sp>
            <p:nvSpPr>
              <p:cNvPr id="62" name="Google Shape;62;p65"/>
              <p:cNvSpPr/>
              <p:nvPr/>
            </p:nvSpPr>
            <p:spPr>
              <a:xfrm>
                <a:off x="7224494" y="5344134"/>
                <a:ext cx="734603" cy="1189257"/>
              </a:xfrm>
              <a:custGeom>
                <a:rect b="b" l="l" r="r" t="t"/>
                <a:pathLst>
                  <a:path extrusionOk="0" h="590550" w="333375">
                    <a:moveTo>
                      <a:pt x="7144" y="7144"/>
                    </a:moveTo>
                    <a:lnTo>
                      <a:pt x="331946" y="7144"/>
                    </a:lnTo>
                    <a:lnTo>
                      <a:pt x="331946" y="586264"/>
                    </a:lnTo>
                    <a:lnTo>
                      <a:pt x="7144" y="586264"/>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65"/>
              <p:cNvSpPr/>
              <p:nvPr/>
            </p:nvSpPr>
            <p:spPr>
              <a:xfrm>
                <a:off x="7353653" y="5363515"/>
                <a:ext cx="604560" cy="1150499"/>
              </a:xfrm>
              <a:custGeom>
                <a:rect b="b" l="l" r="r" t="t"/>
                <a:pathLst>
                  <a:path extrusionOk="0" h="2330356" w="111911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64" name="Google Shape;64;p65"/>
          <p:cNvSpPr/>
          <p:nvPr>
            <p:ph idx="2" type="pic"/>
          </p:nvPr>
        </p:nvSpPr>
        <p:spPr>
          <a:xfrm>
            <a:off x="8609452" y="2064430"/>
            <a:ext cx="2535033" cy="3500209"/>
          </a:xfrm>
          <a:prstGeom prst="rect">
            <a:avLst/>
          </a:prstGeom>
          <a:solidFill>
            <a:srgbClr val="F2F2F2"/>
          </a:solidFill>
          <a:ln>
            <a:noFill/>
          </a:ln>
        </p:spPr>
      </p:sp>
      <p:sp>
        <p:nvSpPr>
          <p:cNvPr id="65" name="Google Shape;65;p65"/>
          <p:cNvSpPr/>
          <p:nvPr>
            <p:ph idx="3" type="pic"/>
          </p:nvPr>
        </p:nvSpPr>
        <p:spPr>
          <a:xfrm>
            <a:off x="6906381" y="3455576"/>
            <a:ext cx="1484457" cy="2330645"/>
          </a:xfrm>
          <a:prstGeom prst="rect">
            <a:avLst/>
          </a:prstGeom>
          <a:solidFill>
            <a:srgbClr val="F2F2F2"/>
          </a:solidFill>
          <a:ln>
            <a:noFill/>
          </a:ln>
        </p:spPr>
      </p:sp>
      <p:sp>
        <p:nvSpPr>
          <p:cNvPr id="66" name="Google Shape;66;p65"/>
          <p:cNvSpPr txBox="1"/>
          <p:nvPr>
            <p:ph idx="1" type="body"/>
          </p:nvPr>
        </p:nvSpPr>
        <p:spPr>
          <a:xfrm>
            <a:off x="323529" y="339509"/>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ontents slide layout">
  <p:cSld name="14_Contents slide layout">
    <p:bg>
      <p:bgPr>
        <a:blipFill>
          <a:blip r:embed="rId2">
            <a:alphaModFix/>
          </a:blip>
          <a:stretch>
            <a:fillRect/>
          </a:stretch>
        </a:blipFill>
      </p:bgPr>
    </p:bg>
    <p:spTree>
      <p:nvGrpSpPr>
        <p:cNvPr id="67" name="Shape 6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ontents slide layout">
  <p:cSld name="15_Contents slide layout">
    <p:spTree>
      <p:nvGrpSpPr>
        <p:cNvPr id="68" name="Shape 68"/>
        <p:cNvGrpSpPr/>
        <p:nvPr/>
      </p:nvGrpSpPr>
      <p:grpSpPr>
        <a:xfrm>
          <a:off x="0" y="0"/>
          <a:ext cx="0" cy="0"/>
          <a:chOff x="0" y="0"/>
          <a:chExt cx="0" cy="0"/>
        </a:xfrm>
      </p:grpSpPr>
      <p:sp>
        <p:nvSpPr>
          <p:cNvPr id="69" name="Google Shape;69;p67"/>
          <p:cNvSpPr/>
          <p:nvPr>
            <p:ph idx="2" type="pic"/>
          </p:nvPr>
        </p:nvSpPr>
        <p:spPr>
          <a:xfrm>
            <a:off x="4319757" y="-1"/>
            <a:ext cx="6580997" cy="5001448"/>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ontents slide layout">
  <p:cSld name="16_Contents slide layout">
    <p:bg>
      <p:bgPr>
        <a:blipFill>
          <a:blip r:embed="rId2">
            <a:alphaModFix/>
          </a:blip>
          <a:stretch>
            <a:fillRect/>
          </a:stretch>
        </a:blipFill>
      </p:bgPr>
    </p:bg>
    <p:spTree>
      <p:nvGrpSpPr>
        <p:cNvPr id="70" name="Shape 7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NG sets layout">
  <p:cSld name="PNG sets layout">
    <p:bg>
      <p:bgPr>
        <a:blipFill>
          <a:blip r:embed="rId2">
            <a:alphaModFix/>
          </a:blip>
          <a:stretch>
            <a:fillRect/>
          </a:stretch>
        </a:blipFill>
      </p:bgPr>
    </p:bg>
    <p:spTree>
      <p:nvGrpSpPr>
        <p:cNvPr id="71" name="Shape 71"/>
        <p:cNvGrpSpPr/>
        <p:nvPr/>
      </p:nvGrpSpPr>
      <p:grpSpPr>
        <a:xfrm>
          <a:off x="0" y="0"/>
          <a:ext cx="0" cy="0"/>
          <a:chOff x="0" y="0"/>
          <a:chExt cx="0" cy="0"/>
        </a:xfrm>
      </p:grpSpPr>
      <p:sp>
        <p:nvSpPr>
          <p:cNvPr id="72" name="Google Shape;72;p70"/>
          <p:cNvSpPr txBox="1"/>
          <p:nvPr>
            <p:ph idx="1" type="body"/>
          </p:nvPr>
        </p:nvSpPr>
        <p:spPr>
          <a:xfrm>
            <a:off x="323529" y="332482"/>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con sets layout">
  <p:cSld name="1_Icon sets layout">
    <p:spTree>
      <p:nvGrpSpPr>
        <p:cNvPr id="73" name="Shape 73"/>
        <p:cNvGrpSpPr/>
        <p:nvPr/>
      </p:nvGrpSpPr>
      <p:grpSpPr>
        <a:xfrm>
          <a:off x="0" y="0"/>
          <a:ext cx="0" cy="0"/>
          <a:chOff x="0" y="0"/>
          <a:chExt cx="0" cy="0"/>
        </a:xfrm>
      </p:grpSpPr>
      <p:sp>
        <p:nvSpPr>
          <p:cNvPr id="74" name="Google Shape;74;p71"/>
          <p:cNvSpPr txBox="1"/>
          <p:nvPr>
            <p:ph idx="1" type="body"/>
          </p:nvPr>
        </p:nvSpPr>
        <p:spPr>
          <a:xfrm>
            <a:off x="323529" y="123478"/>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rgbClr val="262626"/>
              </a:buClr>
              <a:buSzPts val="5400"/>
              <a:buFont typeface="Arial"/>
              <a:buNone/>
              <a:defRPr b="0" i="0" sz="5400" u="none" cap="none" strike="noStrike">
                <a:solidFill>
                  <a:srgbClr val="262626"/>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5" name="Google Shape;75;p71"/>
          <p:cNvSpPr/>
          <p:nvPr/>
        </p:nvSpPr>
        <p:spPr>
          <a:xfrm>
            <a:off x="354010" y="1131591"/>
            <a:ext cx="3560767" cy="5402561"/>
          </a:xfrm>
          <a:prstGeom prst="roundRect">
            <a:avLst>
              <a:gd fmla="val 3968"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Arial"/>
              <a:ea typeface="Arial"/>
              <a:cs typeface="Arial"/>
              <a:sym typeface="Arial"/>
            </a:endParaRPr>
          </a:p>
        </p:txBody>
      </p:sp>
      <p:sp>
        <p:nvSpPr>
          <p:cNvPr id="76" name="Google Shape;76;p71"/>
          <p:cNvSpPr/>
          <p:nvPr/>
        </p:nvSpPr>
        <p:spPr>
          <a:xfrm>
            <a:off x="531933" y="1347500"/>
            <a:ext cx="153868" cy="5015200"/>
          </a:xfrm>
          <a:prstGeom prst="roundRect">
            <a:avLst>
              <a:gd fmla="val 50000" name="adj"/>
            </a:avLst>
          </a:prstGeom>
          <a:solidFill>
            <a:schemeClr val="lt1">
              <a:alpha val="4078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chemeClr val="lt1"/>
              </a:solidFill>
              <a:latin typeface="Arial"/>
              <a:ea typeface="Arial"/>
              <a:cs typeface="Arial"/>
              <a:sym typeface="Arial"/>
            </a:endParaRPr>
          </a:p>
        </p:txBody>
      </p:sp>
      <p:sp>
        <p:nvSpPr>
          <p:cNvPr id="77" name="Google Shape;77;p71"/>
          <p:cNvSpPr/>
          <p:nvPr/>
        </p:nvSpPr>
        <p:spPr>
          <a:xfrm rot="5400000">
            <a:off x="3057177" y="1276653"/>
            <a:ext cx="685849" cy="685148"/>
          </a:xfrm>
          <a:prstGeom prst="halfFrame">
            <a:avLst>
              <a:gd fmla="val 23728" name="adj1"/>
              <a:gd fmla="val 24642" name="adj2"/>
            </a:avLst>
          </a:prstGeom>
          <a:solidFill>
            <a:schemeClr val="lt1">
              <a:alpha val="2274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1">
              <a:solidFill>
                <a:srgbClr val="262626"/>
              </a:solidFill>
              <a:latin typeface="Arial"/>
              <a:ea typeface="Arial"/>
              <a:cs typeface="Arial"/>
              <a:sym typeface="Arial"/>
            </a:endParaRPr>
          </a:p>
        </p:txBody>
      </p:sp>
      <p:sp>
        <p:nvSpPr>
          <p:cNvPr id="78" name="Google Shape;78;p71"/>
          <p:cNvSpPr txBox="1"/>
          <p:nvPr/>
        </p:nvSpPr>
        <p:spPr>
          <a:xfrm>
            <a:off x="711704" y="1637214"/>
            <a:ext cx="2232248"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You can Resize without losing quality</a:t>
            </a:r>
            <a:endParaRPr b="1" sz="1400">
              <a:solidFill>
                <a:schemeClr val="lt1"/>
              </a:solidFill>
              <a:latin typeface="Arial"/>
              <a:ea typeface="Arial"/>
              <a:cs typeface="Arial"/>
              <a:sym typeface="Arial"/>
            </a:endParaRPr>
          </a:p>
        </p:txBody>
      </p:sp>
      <p:sp>
        <p:nvSpPr>
          <p:cNvPr id="79" name="Google Shape;79;p71"/>
          <p:cNvSpPr txBox="1"/>
          <p:nvPr/>
        </p:nvSpPr>
        <p:spPr>
          <a:xfrm>
            <a:off x="711704" y="2127463"/>
            <a:ext cx="2232248" cy="73866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You can Change Fill Color &amp;</a:t>
            </a:r>
            <a:endParaRPr/>
          </a:p>
          <a:p>
            <a:pPr indent="0" lvl="0" marL="0" marR="0" rtl="0" algn="l">
              <a:spcBef>
                <a:spcPts val="0"/>
              </a:spcBef>
              <a:spcAft>
                <a:spcPts val="0"/>
              </a:spcAft>
              <a:buNone/>
            </a:pPr>
            <a:r>
              <a:rPr b="1" lang="en-US" sz="1400">
                <a:solidFill>
                  <a:schemeClr val="lt1"/>
                </a:solidFill>
                <a:latin typeface="Arial"/>
                <a:ea typeface="Arial"/>
                <a:cs typeface="Arial"/>
                <a:sym typeface="Arial"/>
              </a:rPr>
              <a:t>Line Color</a:t>
            </a:r>
            <a:endParaRPr b="1" sz="1400">
              <a:solidFill>
                <a:schemeClr val="lt1"/>
              </a:solidFill>
              <a:latin typeface="Arial"/>
              <a:ea typeface="Arial"/>
              <a:cs typeface="Arial"/>
              <a:sym typeface="Arial"/>
            </a:endParaRPr>
          </a:p>
        </p:txBody>
      </p:sp>
      <p:sp>
        <p:nvSpPr>
          <p:cNvPr id="80" name="Google Shape;80;p71"/>
          <p:cNvSpPr txBox="1"/>
          <p:nvPr/>
        </p:nvSpPr>
        <p:spPr>
          <a:xfrm>
            <a:off x="721229" y="5808438"/>
            <a:ext cx="2232000" cy="30777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1400">
                <a:solidFill>
                  <a:schemeClr val="lt1"/>
                </a:solidFill>
                <a:latin typeface="Arial"/>
                <a:ea typeface="Arial"/>
                <a:cs typeface="Arial"/>
                <a:sym typeface="Arial"/>
              </a:rPr>
              <a:t>www.allppt.com</a:t>
            </a:r>
            <a:endParaRPr sz="1400">
              <a:solidFill>
                <a:schemeClr val="lt1"/>
              </a:solidFill>
              <a:latin typeface="Arial"/>
              <a:ea typeface="Arial"/>
              <a:cs typeface="Arial"/>
              <a:sym typeface="Arial"/>
            </a:endParaRPr>
          </a:p>
        </p:txBody>
      </p:sp>
      <p:sp>
        <p:nvSpPr>
          <p:cNvPr id="81" name="Google Shape;81;p71"/>
          <p:cNvSpPr txBox="1"/>
          <p:nvPr/>
        </p:nvSpPr>
        <p:spPr>
          <a:xfrm>
            <a:off x="721229" y="4450324"/>
            <a:ext cx="2717296" cy="138499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lt1"/>
                </a:solidFill>
                <a:latin typeface="Arial"/>
                <a:ea typeface="Arial"/>
                <a:cs typeface="Arial"/>
                <a:sym typeface="Arial"/>
              </a:rPr>
              <a:t>FREE </a:t>
            </a:r>
            <a:endParaRPr/>
          </a:p>
          <a:p>
            <a:pPr indent="0" lvl="0" marL="0" marR="0" rtl="0" algn="l">
              <a:spcBef>
                <a:spcPts val="0"/>
              </a:spcBef>
              <a:spcAft>
                <a:spcPts val="0"/>
              </a:spcAft>
              <a:buNone/>
            </a:pPr>
            <a:r>
              <a:rPr b="1" lang="en-US" sz="2800">
                <a:solidFill>
                  <a:schemeClr val="lt1"/>
                </a:solidFill>
                <a:latin typeface="Arial"/>
                <a:ea typeface="Arial"/>
                <a:cs typeface="Arial"/>
                <a:sym typeface="Arial"/>
              </a:rPr>
              <a:t>PPT TEMPLATES</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s slide layout">
  <p:cSld name="2_Contents slide layout">
    <p:spTree>
      <p:nvGrpSpPr>
        <p:cNvPr id="82" name="Shape 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5" Type="http://schemas.openxmlformats.org/officeDocument/2006/relationships/slideLayout" Target="../slideLayouts/slideLayout7.xml"/><Relationship Id="rId19" Type="http://schemas.openxmlformats.org/officeDocument/2006/relationships/theme" Target="../theme/theme1.xml"/><Relationship Id="rId6" Type="http://schemas.openxmlformats.org/officeDocument/2006/relationships/slideLayout" Target="../slideLayouts/slideLayout8.xml"/><Relationship Id="rId18" Type="http://schemas.openxmlformats.org/officeDocument/2006/relationships/slideLayout" Target="../slideLayouts/slideLayout20.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14.png"/><Relationship Id="rId6" Type="http://schemas.openxmlformats.org/officeDocument/2006/relationships/hyperlink" Target="http://www.free-powerpoint-templates-design.com/" TargetMode="External"/><Relationship Id="rId7" Type="http://schemas.openxmlformats.org/officeDocument/2006/relationships/image" Target="../media/image3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3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hyperlink" Target="https://www.kaggle.com/datasets/zaikali/football-tackles" TargetMode="External"/><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3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32.png"/></Relationships>
</file>

<file path=ppt/slides/_rels/slide6.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16.png"/><Relationship Id="rId13" Type="http://schemas.openxmlformats.org/officeDocument/2006/relationships/image" Target="../media/image23.png"/><Relationship Id="rId12" Type="http://schemas.openxmlformats.org/officeDocument/2006/relationships/image" Target="../media/image20.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4.png"/><Relationship Id="rId9" Type="http://schemas.openxmlformats.org/officeDocument/2006/relationships/image" Target="../media/image21.png"/><Relationship Id="rId5" Type="http://schemas.openxmlformats.org/officeDocument/2006/relationships/image" Target="../media/image3.png"/><Relationship Id="rId6" Type="http://schemas.openxmlformats.org/officeDocument/2006/relationships/image" Target="../media/image18.png"/><Relationship Id="rId7" Type="http://schemas.openxmlformats.org/officeDocument/2006/relationships/image" Target="../media/image17.png"/><Relationship Id="rId8"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31.png"/><Relationship Id="rId6"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image" Target="../media/image27.png"/><Relationship Id="rId7"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282A"/>
        </a:solidFill>
      </p:bgPr>
    </p:bg>
    <p:spTree>
      <p:nvGrpSpPr>
        <p:cNvPr id="86" name="Shape 86"/>
        <p:cNvGrpSpPr/>
        <p:nvPr/>
      </p:nvGrpSpPr>
      <p:grpSpPr>
        <a:xfrm>
          <a:off x="0" y="0"/>
          <a:ext cx="0" cy="0"/>
          <a:chOff x="0" y="0"/>
          <a:chExt cx="0" cy="0"/>
        </a:xfrm>
      </p:grpSpPr>
      <p:pic>
        <p:nvPicPr>
          <p:cNvPr descr="Immagine che contiene calcio, collage, calcio/football americano, persona&#10;&#10;Il contenuto generato dall'IA potrebbe non essere corretto." id="87" name="Google Shape;87;g3617b676fc8_9_0"/>
          <p:cNvPicPr preferRelativeResize="0"/>
          <p:nvPr/>
        </p:nvPicPr>
        <p:blipFill rotWithShape="1">
          <a:blip r:embed="rId3">
            <a:alphaModFix amt="20000"/>
          </a:blip>
          <a:srcRect b="10332" l="514" r="485" t="10977"/>
          <a:stretch/>
        </p:blipFill>
        <p:spPr>
          <a:xfrm>
            <a:off x="0" y="0"/>
            <a:ext cx="12192001" cy="6858001"/>
          </a:xfrm>
          <a:prstGeom prst="rect">
            <a:avLst/>
          </a:prstGeom>
          <a:noFill/>
          <a:ln>
            <a:noFill/>
          </a:ln>
          <a:effectLst>
            <a:outerShdw blurRad="50800" rotWithShape="0" algn="ctr" dir="5400000" dist="50800">
              <a:srgbClr val="000000"/>
            </a:outerShdw>
          </a:effectLst>
        </p:spPr>
      </p:pic>
      <p:pic>
        <p:nvPicPr>
          <p:cNvPr id="88" name="Google Shape;88;g3617b676fc8_9_0"/>
          <p:cNvPicPr preferRelativeResize="0"/>
          <p:nvPr/>
        </p:nvPicPr>
        <p:blipFill rotWithShape="1">
          <a:blip r:embed="rId4">
            <a:alphaModFix amt="85000"/>
          </a:blip>
          <a:srcRect b="0" l="0" r="0" t="0"/>
          <a:stretch/>
        </p:blipFill>
        <p:spPr>
          <a:xfrm>
            <a:off x="6163236" y="4198541"/>
            <a:ext cx="4436541" cy="2495551"/>
          </a:xfrm>
          <a:prstGeom prst="rect">
            <a:avLst/>
          </a:prstGeom>
          <a:noFill/>
          <a:ln cap="flat" cmpd="sng" w="28575">
            <a:solidFill>
              <a:schemeClr val="lt1"/>
            </a:solidFill>
            <a:prstDash val="solid"/>
            <a:round/>
            <a:headEnd len="sm" w="sm" type="none"/>
            <a:tailEnd len="sm" w="sm" type="none"/>
          </a:ln>
        </p:spPr>
      </p:pic>
      <p:pic>
        <p:nvPicPr>
          <p:cNvPr descr="Immagine che contiene erba, persona, sport, giocatore&#10;&#10;Il contenuto generato dall'IA potrebbe non essere corretto." id="89" name="Google Shape;89;g3617b676fc8_9_0"/>
          <p:cNvPicPr preferRelativeResize="0"/>
          <p:nvPr/>
        </p:nvPicPr>
        <p:blipFill rotWithShape="1">
          <a:blip r:embed="rId5">
            <a:alphaModFix/>
          </a:blip>
          <a:srcRect b="0" l="9127" r="0" t="0"/>
          <a:stretch/>
        </p:blipFill>
        <p:spPr>
          <a:xfrm flipH="1">
            <a:off x="7930392" y="965494"/>
            <a:ext cx="3853714" cy="4240779"/>
          </a:xfrm>
          <a:prstGeom prst="rect">
            <a:avLst/>
          </a:prstGeom>
          <a:noFill/>
          <a:ln cap="flat" cmpd="sng" w="28575">
            <a:solidFill>
              <a:schemeClr val="lt1"/>
            </a:solidFill>
            <a:prstDash val="solid"/>
            <a:round/>
            <a:headEnd len="sm" w="sm" type="none"/>
            <a:tailEnd len="sm" w="sm" type="none"/>
          </a:ln>
        </p:spPr>
      </p:pic>
      <p:sp>
        <p:nvSpPr>
          <p:cNvPr id="90" name="Google Shape;90;g3617b676fc8_9_0">
            <a:hlinkClick r:id="rId6"/>
          </p:cNvPr>
          <p:cNvSpPr txBox="1"/>
          <p:nvPr/>
        </p:nvSpPr>
        <p:spPr>
          <a:xfrm>
            <a:off x="-714532" y="4234986"/>
            <a:ext cx="8273400" cy="307800"/>
          </a:xfrm>
          <a:prstGeom prst="rect">
            <a:avLst/>
          </a:prstGeom>
          <a:noFill/>
          <a:ln>
            <a:noFill/>
          </a:ln>
          <a:effectLst>
            <a:outerShdw blurRad="57150" rotWithShape="0" algn="bl" dir="5400000" dist="19050">
              <a:srgbClr val="000000">
                <a:alpha val="49803"/>
              </a:srgbClr>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i="0" lang="en-US" u="none" cap="none" strike="noStrike">
                <a:solidFill>
                  <a:schemeClr val="lt1"/>
                </a:solidFill>
                <a:latin typeface="Montserrat ExtraLight"/>
                <a:ea typeface="Montserrat ExtraLight"/>
                <a:cs typeface="Montserrat ExtraLight"/>
                <a:sym typeface="Montserrat ExtraLight"/>
              </a:rPr>
              <a:t>Lorenzo Sabatino, Damiano Pronti, Guido Francesco Valente</a:t>
            </a:r>
            <a:endParaRPr i="0" u="none" cap="none" strike="noStrike">
              <a:solidFill>
                <a:schemeClr val="lt1"/>
              </a:solidFill>
              <a:latin typeface="Montserrat ExtraLight"/>
              <a:ea typeface="Montserrat ExtraLight"/>
              <a:cs typeface="Montserrat ExtraLight"/>
              <a:sym typeface="Montserrat ExtraLight"/>
            </a:endParaRPr>
          </a:p>
        </p:txBody>
      </p:sp>
      <p:sp>
        <p:nvSpPr>
          <p:cNvPr id="91" name="Google Shape;91;g3617b676fc8_9_0"/>
          <p:cNvSpPr txBox="1"/>
          <p:nvPr/>
        </p:nvSpPr>
        <p:spPr>
          <a:xfrm>
            <a:off x="289825" y="2211148"/>
            <a:ext cx="6264900" cy="1508400"/>
          </a:xfrm>
          <a:prstGeom prst="rect">
            <a:avLst/>
          </a:prstGeom>
          <a:noFill/>
          <a:ln>
            <a:noFill/>
          </a:ln>
          <a:effectLst>
            <a:outerShdw blurRad="57150" rotWithShape="0" algn="bl" dir="5400000" dist="19050">
              <a:srgbClr val="000000">
                <a:alpha val="49803"/>
              </a:srgbClr>
            </a:outerShdw>
          </a:effectLst>
        </p:spPr>
        <p:txBody>
          <a:bodyPr anchorCtr="0" anchor="ctr" bIns="45700" lIns="91425" spcFirstLastPara="1" rIns="91425" wrap="square" tIns="45700">
            <a:spAutoFit/>
          </a:bodyPr>
          <a:lstStyle/>
          <a:p>
            <a:pPr indent="0" lvl="0" marL="0" rtl="0" algn="ctr">
              <a:spcBef>
                <a:spcPts val="0"/>
              </a:spcBef>
              <a:spcAft>
                <a:spcPts val="0"/>
              </a:spcAft>
              <a:buClr>
                <a:schemeClr val="dk1"/>
              </a:buClr>
              <a:buSzPts val="5400"/>
              <a:buFont typeface="Arial"/>
              <a:buNone/>
            </a:pPr>
            <a:r>
              <a:rPr b="1" lang="en-US" sz="4600">
                <a:solidFill>
                  <a:srgbClr val="43C149"/>
                </a:solidFill>
                <a:latin typeface="Montserrat"/>
                <a:ea typeface="Montserrat"/>
                <a:cs typeface="Montserrat"/>
                <a:sym typeface="Montserrat"/>
              </a:rPr>
              <a:t>Foul</a:t>
            </a:r>
            <a:r>
              <a:rPr b="1" lang="en-US" sz="4600">
                <a:solidFill>
                  <a:schemeClr val="lt1"/>
                </a:solidFill>
                <a:latin typeface="Montserrat"/>
                <a:ea typeface="Montserrat"/>
                <a:cs typeface="Montserrat"/>
                <a:sym typeface="Montserrat"/>
              </a:rPr>
              <a:t> Detection in Football </a:t>
            </a:r>
            <a:r>
              <a:rPr b="1" lang="en-US" sz="4600">
                <a:solidFill>
                  <a:srgbClr val="43C149"/>
                </a:solidFill>
                <a:latin typeface="Montserrat"/>
                <a:ea typeface="Montserrat"/>
                <a:cs typeface="Montserrat"/>
                <a:sym typeface="Montserrat"/>
              </a:rPr>
              <a:t>Using CNN</a:t>
            </a:r>
            <a:endParaRPr b="1" sz="4600">
              <a:solidFill>
                <a:schemeClr val="lt1"/>
              </a:solidFill>
              <a:latin typeface="Montserrat"/>
              <a:ea typeface="Montserrat"/>
              <a:cs typeface="Montserrat"/>
              <a:sym typeface="Montserrat"/>
            </a:endParaRPr>
          </a:p>
        </p:txBody>
      </p:sp>
      <p:sp>
        <p:nvSpPr>
          <p:cNvPr id="92" name="Google Shape;92;g3617b676fc8_9_0"/>
          <p:cNvSpPr txBox="1"/>
          <p:nvPr/>
        </p:nvSpPr>
        <p:spPr>
          <a:xfrm>
            <a:off x="-714533" y="3811920"/>
            <a:ext cx="8273400" cy="461700"/>
          </a:xfrm>
          <a:prstGeom prst="rect">
            <a:avLst/>
          </a:prstGeom>
          <a:noFill/>
          <a:ln>
            <a:noFill/>
          </a:ln>
          <a:effectLst>
            <a:outerShdw blurRad="57150" rotWithShape="0" algn="bl" dir="5400000" dist="19050">
              <a:srgbClr val="000000">
                <a:alpha val="49803"/>
              </a:srgbClr>
            </a:outerShdw>
          </a:effectLst>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i="0" lang="en-US" sz="2400" u="none" cap="none" strike="noStrike">
                <a:solidFill>
                  <a:schemeClr val="lt1"/>
                </a:solidFill>
                <a:latin typeface="Montserrat Light"/>
                <a:ea typeface="Montserrat Light"/>
                <a:cs typeface="Montserrat Light"/>
                <a:sym typeface="Montserrat Light"/>
              </a:rPr>
              <a:t>A Computer Vision Project</a:t>
            </a:r>
            <a:endParaRPr i="0" sz="2400" u="none" cap="none" strike="noStrike">
              <a:solidFill>
                <a:schemeClr val="lt1"/>
              </a:solidFill>
              <a:latin typeface="Montserrat Light"/>
              <a:ea typeface="Montserrat Light"/>
              <a:cs typeface="Montserrat Light"/>
              <a:sym typeface="Montserrat Light"/>
            </a:endParaRPr>
          </a:p>
        </p:txBody>
      </p:sp>
      <p:pic>
        <p:nvPicPr>
          <p:cNvPr descr="Quali sono i falli di mano più famosi della storia del calcio? | DAZN News  IT" id="93" name="Google Shape;93;g3617b676fc8_9_0"/>
          <p:cNvPicPr preferRelativeResize="0"/>
          <p:nvPr/>
        </p:nvPicPr>
        <p:blipFill rotWithShape="1">
          <a:blip r:embed="rId7">
            <a:alphaModFix amt="95000"/>
          </a:blip>
          <a:srcRect b="1184" l="20774" r="13940" t="-1"/>
          <a:stretch/>
        </p:blipFill>
        <p:spPr>
          <a:xfrm>
            <a:off x="6512572" y="396208"/>
            <a:ext cx="2658322" cy="2263251"/>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7" name="Shape 97"/>
        <p:cNvGrpSpPr/>
        <p:nvPr/>
      </p:nvGrpSpPr>
      <p:grpSpPr>
        <a:xfrm>
          <a:off x="0" y="0"/>
          <a:ext cx="0" cy="0"/>
          <a:chOff x="0" y="0"/>
          <a:chExt cx="0" cy="0"/>
        </a:xfrm>
      </p:grpSpPr>
      <p:pic>
        <p:nvPicPr>
          <p:cNvPr descr="Immagine che contiene calcio, collage, calcio/football americano, persona&#10;&#10;Il contenuto generato dall'IA potrebbe non essere corretto." id="98" name="Google Shape;98;g3617b676fc8_9_12"/>
          <p:cNvPicPr preferRelativeResize="0"/>
          <p:nvPr/>
        </p:nvPicPr>
        <p:blipFill rotWithShape="1">
          <a:blip r:embed="rId3">
            <a:alphaModFix amt="32000"/>
          </a:blip>
          <a:srcRect b="10337" l="46862" r="480" t="10974"/>
          <a:stretch/>
        </p:blipFill>
        <p:spPr>
          <a:xfrm>
            <a:off x="5707055" y="0"/>
            <a:ext cx="6484945" cy="6858000"/>
          </a:xfrm>
          <a:prstGeom prst="rect">
            <a:avLst/>
          </a:prstGeom>
          <a:noFill/>
          <a:ln>
            <a:noFill/>
          </a:ln>
          <a:effectLst>
            <a:outerShdw rotWithShape="0" algn="ctr" dir="5400000" dist="50800">
              <a:srgbClr val="000000"/>
            </a:outerShdw>
          </a:effectLst>
        </p:spPr>
      </p:pic>
      <p:pic>
        <p:nvPicPr>
          <p:cNvPr id="99" name="Google Shape;99;g3617b676fc8_9_12"/>
          <p:cNvPicPr preferRelativeResize="0"/>
          <p:nvPr/>
        </p:nvPicPr>
        <p:blipFill>
          <a:blip r:embed="rId4">
            <a:alphaModFix/>
          </a:blip>
          <a:stretch>
            <a:fillRect/>
          </a:stretch>
        </p:blipFill>
        <p:spPr>
          <a:xfrm>
            <a:off x="494101" y="1146800"/>
            <a:ext cx="664900" cy="667775"/>
          </a:xfrm>
          <a:prstGeom prst="rect">
            <a:avLst/>
          </a:prstGeom>
          <a:noFill/>
          <a:ln>
            <a:noFill/>
          </a:ln>
        </p:spPr>
      </p:pic>
      <p:sp>
        <p:nvSpPr>
          <p:cNvPr id="100" name="Google Shape;100;g3617b676fc8_9_12"/>
          <p:cNvSpPr txBox="1"/>
          <p:nvPr/>
        </p:nvSpPr>
        <p:spPr>
          <a:xfrm>
            <a:off x="593600" y="1223575"/>
            <a:ext cx="465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01</a:t>
            </a:r>
            <a:endParaRPr sz="800">
              <a:solidFill>
                <a:schemeClr val="lt1"/>
              </a:solidFill>
            </a:endParaRPr>
          </a:p>
        </p:txBody>
      </p:sp>
      <p:sp>
        <p:nvSpPr>
          <p:cNvPr id="101" name="Google Shape;101;g3617b676fc8_9_12"/>
          <p:cNvSpPr txBox="1"/>
          <p:nvPr/>
        </p:nvSpPr>
        <p:spPr>
          <a:xfrm>
            <a:off x="494100" y="1212450"/>
            <a:ext cx="5077800" cy="4433100"/>
          </a:xfrm>
          <a:prstGeom prst="rect">
            <a:avLst/>
          </a:prstGeom>
          <a:noFill/>
          <a:ln>
            <a:noFill/>
          </a:ln>
        </p:spPr>
        <p:txBody>
          <a:bodyPr anchorCtr="0" anchor="t" bIns="45700" lIns="91425" spcFirstLastPara="1" rIns="91425" wrap="square" tIns="45700">
            <a:spAutoFit/>
          </a:bodyPr>
          <a:lstStyle/>
          <a:p>
            <a:pPr indent="457200" lvl="0" marL="0" marR="0" rtl="0" algn="l">
              <a:lnSpc>
                <a:spcPct val="100000"/>
              </a:lnSpc>
              <a:spcBef>
                <a:spcPts val="0"/>
              </a:spcBef>
              <a:spcAft>
                <a:spcPts val="0"/>
              </a:spcAft>
              <a:buNone/>
            </a:pPr>
            <a:r>
              <a:rPr b="1" lang="en-US" sz="2800">
                <a:solidFill>
                  <a:srgbClr val="FFFFFF"/>
                </a:solidFill>
                <a:latin typeface="Montserrat"/>
                <a:ea typeface="Montserrat"/>
                <a:cs typeface="Montserrat"/>
                <a:sym typeface="Montserrat"/>
              </a:rPr>
              <a:t>  </a:t>
            </a:r>
            <a:r>
              <a:rPr b="1" i="0" lang="en-US" sz="3000" u="none" cap="none" strike="noStrike">
                <a:solidFill>
                  <a:srgbClr val="FFFFFF"/>
                </a:solidFill>
                <a:latin typeface="Montserrat"/>
                <a:ea typeface="Montserrat"/>
                <a:cs typeface="Montserrat"/>
                <a:sym typeface="Montserrat"/>
              </a:rPr>
              <a:t>About the </a:t>
            </a:r>
            <a:r>
              <a:rPr b="1" lang="en-US" sz="3000">
                <a:solidFill>
                  <a:srgbClr val="43C149"/>
                </a:solidFill>
                <a:latin typeface="Montserrat"/>
                <a:ea typeface="Montserrat"/>
                <a:cs typeface="Montserrat"/>
                <a:sym typeface="Montserrat"/>
              </a:rPr>
              <a:t>P</a:t>
            </a:r>
            <a:r>
              <a:rPr b="1" i="0" lang="en-US" sz="3000" u="none" cap="none" strike="noStrike">
                <a:solidFill>
                  <a:srgbClr val="43C149"/>
                </a:solidFill>
                <a:latin typeface="Montserrat"/>
                <a:ea typeface="Montserrat"/>
                <a:cs typeface="Montserrat"/>
                <a:sym typeface="Montserrat"/>
              </a:rPr>
              <a:t>roject</a:t>
            </a:r>
            <a:endParaRPr b="1" i="0" sz="2000" u="none" cap="none" strike="noStrike">
              <a:solidFill>
                <a:srgbClr val="43C149"/>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i="0" lang="en-US" sz="1800" u="none" cap="none" strike="noStrike">
                <a:solidFill>
                  <a:srgbClr val="FFFFFF"/>
                </a:solidFill>
                <a:latin typeface="Montserrat ExtraLight"/>
                <a:ea typeface="Montserrat ExtraLight"/>
                <a:cs typeface="Montserrat ExtraLight"/>
                <a:sym typeface="Montserrat ExtraLight"/>
              </a:rPr>
              <a:t>This project aims to </a:t>
            </a:r>
            <a:r>
              <a:rPr lang="en-US" sz="1800">
                <a:solidFill>
                  <a:srgbClr val="43C149"/>
                </a:solidFill>
                <a:latin typeface="Montserrat"/>
                <a:ea typeface="Montserrat"/>
                <a:cs typeface="Montserrat"/>
                <a:sym typeface="Montserrat"/>
              </a:rPr>
              <a:t>support</a:t>
            </a:r>
            <a:r>
              <a:rPr i="0" lang="en-US" sz="1800" u="none" cap="none" strike="noStrike">
                <a:solidFill>
                  <a:srgbClr val="FFFFFF"/>
                </a:solidFill>
                <a:latin typeface="Montserrat ExtraLight"/>
                <a:ea typeface="Montserrat ExtraLight"/>
                <a:cs typeface="Montserrat ExtraLight"/>
                <a:sym typeface="Montserrat ExtraLight"/>
              </a:rPr>
              <a:t> football referees and VAR by automatically identifying fouls from single images using a custom CNN model.</a:t>
            </a:r>
            <a:endParaRPr i="0" sz="1800" u="none" cap="none" strike="noStrike">
              <a:solidFill>
                <a:srgbClr val="FFFFFF"/>
              </a:solidFill>
              <a:latin typeface="Montserrat ExtraLight"/>
              <a:ea typeface="Montserrat ExtraLight"/>
              <a:cs typeface="Montserrat ExtraLight"/>
              <a:sym typeface="Montserrat ExtraLight"/>
            </a:endParaRPr>
          </a:p>
          <a:p>
            <a:pPr indent="0" lvl="0" marL="0" marR="0" rtl="0" algn="l">
              <a:lnSpc>
                <a:spcPct val="100000"/>
              </a:lnSpc>
              <a:spcBef>
                <a:spcPts val="0"/>
              </a:spcBef>
              <a:spcAft>
                <a:spcPts val="0"/>
              </a:spcAft>
              <a:buClr>
                <a:srgbClr val="000000"/>
              </a:buClr>
              <a:buSzPts val="1800"/>
              <a:buFont typeface="Arial"/>
              <a:buNone/>
            </a:pPr>
            <a:r>
              <a:t/>
            </a:r>
            <a:endParaRPr sz="1800">
              <a:solidFill>
                <a:srgbClr val="FFFFFF"/>
              </a:solidFill>
              <a:latin typeface="Montserrat ExtraLight"/>
              <a:ea typeface="Montserrat ExtraLight"/>
              <a:cs typeface="Montserrat ExtraLight"/>
              <a:sym typeface="Montserrat ExtraLight"/>
            </a:endParaRPr>
          </a:p>
          <a:p>
            <a:pPr indent="0" lvl="0" marL="0" marR="0" rtl="0" algn="l">
              <a:lnSpc>
                <a:spcPct val="100000"/>
              </a:lnSpc>
              <a:spcBef>
                <a:spcPts val="0"/>
              </a:spcBef>
              <a:spcAft>
                <a:spcPts val="0"/>
              </a:spcAft>
              <a:buClr>
                <a:srgbClr val="000000"/>
              </a:buClr>
              <a:buSzPts val="1800"/>
              <a:buFont typeface="Arial"/>
              <a:buNone/>
            </a:pPr>
            <a:r>
              <a:rPr i="0" lang="en-US" sz="1800" u="none" cap="none" strike="noStrike">
                <a:solidFill>
                  <a:srgbClr val="FFFFFF"/>
                </a:solidFill>
                <a:latin typeface="Montserrat ExtraLight"/>
                <a:ea typeface="Montserrat ExtraLight"/>
                <a:cs typeface="Montserrat ExtraLight"/>
                <a:sym typeface="Montserrat ExtraLight"/>
              </a:rPr>
              <a:t>It focuses on:</a:t>
            </a:r>
            <a:endParaRPr sz="1800">
              <a:latin typeface="Montserrat ExtraLight"/>
              <a:ea typeface="Montserrat ExtraLight"/>
              <a:cs typeface="Montserrat ExtraLight"/>
              <a:sym typeface="Montserrat ExtraLight"/>
            </a:endParaRPr>
          </a:p>
          <a:p>
            <a:pPr indent="-342900" lvl="0" marL="457200" marR="0" rtl="0" algn="l">
              <a:lnSpc>
                <a:spcPct val="100000"/>
              </a:lnSpc>
              <a:spcBef>
                <a:spcPts val="0"/>
              </a:spcBef>
              <a:spcAft>
                <a:spcPts val="0"/>
              </a:spcAft>
              <a:buClr>
                <a:srgbClr val="FFFFFF"/>
              </a:buClr>
              <a:buSzPts val="1800"/>
              <a:buFont typeface="Montserrat ExtraLight"/>
              <a:buChar char="●"/>
            </a:pPr>
            <a:r>
              <a:rPr lang="en-US" sz="1800">
                <a:solidFill>
                  <a:srgbClr val="43C149"/>
                </a:solidFill>
                <a:latin typeface="Montserrat"/>
                <a:ea typeface="Montserrat"/>
                <a:cs typeface="Montserrat"/>
                <a:sym typeface="Montserrat"/>
              </a:rPr>
              <a:t>classifying</a:t>
            </a:r>
            <a:r>
              <a:rPr lang="en-US" sz="1800">
                <a:solidFill>
                  <a:srgbClr val="FFFFFF"/>
                </a:solidFill>
                <a:latin typeface="Montserrat ExtraLight"/>
                <a:ea typeface="Montserrat ExtraLight"/>
                <a:cs typeface="Montserrat ExtraLight"/>
                <a:sym typeface="Montserrat ExtraLight"/>
              </a:rPr>
              <a:t> an action as foul or no foul</a:t>
            </a:r>
            <a:endParaRPr sz="1800">
              <a:solidFill>
                <a:srgbClr val="FFFFFF"/>
              </a:solidFill>
              <a:latin typeface="Montserrat ExtraLight"/>
              <a:ea typeface="Montserrat ExtraLight"/>
              <a:cs typeface="Montserrat ExtraLight"/>
              <a:sym typeface="Montserrat ExtraLight"/>
            </a:endParaRPr>
          </a:p>
          <a:p>
            <a:pPr indent="-342900" lvl="0" marL="457200" marR="0" rtl="0" algn="l">
              <a:lnSpc>
                <a:spcPct val="100000"/>
              </a:lnSpc>
              <a:spcBef>
                <a:spcPts val="0"/>
              </a:spcBef>
              <a:spcAft>
                <a:spcPts val="0"/>
              </a:spcAft>
              <a:buClr>
                <a:srgbClr val="FFFFFF"/>
              </a:buClr>
              <a:buSzPts val="1800"/>
              <a:buFont typeface="Montserrat ExtraLight"/>
              <a:buChar char="●"/>
            </a:pPr>
            <a:r>
              <a:rPr lang="en-US" sz="1800">
                <a:solidFill>
                  <a:srgbClr val="43C149"/>
                </a:solidFill>
                <a:latin typeface="Montserrat"/>
                <a:ea typeface="Montserrat"/>
                <a:cs typeface="Montserrat"/>
                <a:sym typeface="Montserrat"/>
              </a:rPr>
              <a:t>improving</a:t>
            </a:r>
            <a:r>
              <a:rPr lang="en-US" sz="1800">
                <a:solidFill>
                  <a:srgbClr val="FFFFFF"/>
                </a:solidFill>
                <a:latin typeface="Montserrat ExtraLight"/>
                <a:ea typeface="Montserrat ExtraLight"/>
                <a:cs typeface="Montserrat ExtraLight"/>
                <a:sym typeface="Montserrat ExtraLight"/>
              </a:rPr>
              <a:t> decision-making speed and fairness </a:t>
            </a:r>
            <a:r>
              <a:rPr i="0" lang="en-US" sz="1800" u="none" cap="none" strike="noStrike">
                <a:solidFill>
                  <a:srgbClr val="FFFFFF"/>
                </a:solidFill>
                <a:latin typeface="Montserrat ExtraLight"/>
                <a:ea typeface="Montserrat ExtraLight"/>
                <a:cs typeface="Montserrat ExtraLight"/>
                <a:sym typeface="Montserrat ExtraLight"/>
              </a:rPr>
              <a:t>in football matches</a:t>
            </a:r>
            <a:r>
              <a:rPr lang="en-US" sz="1800">
                <a:solidFill>
                  <a:srgbClr val="FFFFFF"/>
                </a:solidFill>
                <a:latin typeface="Montserrat ExtraLight"/>
                <a:ea typeface="Montserrat ExtraLight"/>
                <a:cs typeface="Montserrat ExtraLight"/>
                <a:sym typeface="Montserrat ExtraLight"/>
              </a:rPr>
              <a:t>.</a:t>
            </a:r>
            <a:endParaRPr sz="1800">
              <a:solidFill>
                <a:srgbClr val="FFFFFF"/>
              </a:solidFill>
              <a:latin typeface="Montserrat ExtraLight"/>
              <a:ea typeface="Montserrat ExtraLight"/>
              <a:cs typeface="Montserrat ExtraLight"/>
              <a:sym typeface="Montserrat ExtraLight"/>
            </a:endParaRPr>
          </a:p>
          <a:p>
            <a:pPr indent="-342900" lvl="0" marL="457200" marR="0" rtl="0" algn="l">
              <a:lnSpc>
                <a:spcPct val="100000"/>
              </a:lnSpc>
              <a:spcBef>
                <a:spcPts val="0"/>
              </a:spcBef>
              <a:spcAft>
                <a:spcPts val="0"/>
              </a:spcAft>
              <a:buClr>
                <a:srgbClr val="FFFFFF"/>
              </a:buClr>
              <a:buSzPts val="1800"/>
              <a:buFont typeface="Montserrat ExtraLight"/>
              <a:buChar char="●"/>
            </a:pPr>
            <a:r>
              <a:rPr lang="en-US" sz="1800">
                <a:solidFill>
                  <a:srgbClr val="FFFFFF"/>
                </a:solidFill>
                <a:latin typeface="Montserrat ExtraLight"/>
                <a:ea typeface="Montserrat ExtraLight"/>
                <a:cs typeface="Montserrat ExtraLight"/>
                <a:sym typeface="Montserrat ExtraLight"/>
              </a:rPr>
              <a:t>design and implement a </a:t>
            </a:r>
            <a:r>
              <a:rPr lang="en-US" sz="1800">
                <a:solidFill>
                  <a:srgbClr val="43C149"/>
                </a:solidFill>
                <a:latin typeface="Montserrat"/>
                <a:ea typeface="Montserrat"/>
                <a:cs typeface="Montserrat"/>
                <a:sym typeface="Montserrat"/>
              </a:rPr>
              <a:t>custom</a:t>
            </a:r>
            <a:r>
              <a:rPr lang="en-US" sz="1800">
                <a:solidFill>
                  <a:srgbClr val="FFFFFF"/>
                </a:solidFill>
                <a:latin typeface="Montserrat ExtraLight"/>
                <a:ea typeface="Montserrat ExtraLight"/>
                <a:cs typeface="Montserrat ExtraLight"/>
                <a:sym typeface="Montserrat ExtraLight"/>
              </a:rPr>
              <a:t> and </a:t>
            </a:r>
            <a:r>
              <a:rPr lang="en-US" sz="1800">
                <a:solidFill>
                  <a:srgbClr val="43C149"/>
                </a:solidFill>
                <a:latin typeface="Montserrat"/>
                <a:ea typeface="Montserrat"/>
                <a:cs typeface="Montserrat"/>
                <a:sym typeface="Montserrat"/>
              </a:rPr>
              <a:t>lightweight</a:t>
            </a:r>
            <a:r>
              <a:rPr lang="en-US" sz="1800">
                <a:solidFill>
                  <a:srgbClr val="FFFFFF"/>
                </a:solidFill>
                <a:latin typeface="Montserrat ExtraLight"/>
                <a:ea typeface="Montserrat ExtraLight"/>
                <a:cs typeface="Montserrat ExtraLight"/>
                <a:sym typeface="Montserrat ExtraLight"/>
              </a:rPr>
              <a:t> Convolutional Neural Network (CNN).</a:t>
            </a:r>
            <a:endParaRPr sz="1800">
              <a:solidFill>
                <a:srgbClr val="FFFFFF"/>
              </a:solidFill>
              <a:latin typeface="Montserrat ExtraLight"/>
              <a:ea typeface="Montserrat ExtraLight"/>
              <a:cs typeface="Montserrat ExtraLight"/>
              <a:sym typeface="Montserrat ExtraLight"/>
            </a:endParaRPr>
          </a:p>
        </p:txBody>
      </p:sp>
      <p:pic>
        <p:nvPicPr>
          <p:cNvPr id="102" name="Google Shape;102;g3617b676fc8_9_12"/>
          <p:cNvPicPr preferRelativeResize="0"/>
          <p:nvPr/>
        </p:nvPicPr>
        <p:blipFill rotWithShape="1">
          <a:blip r:embed="rId5">
            <a:alphaModFix amt="90000"/>
          </a:blip>
          <a:srcRect b="0" l="21580" r="22972" t="0"/>
          <a:stretch/>
        </p:blipFill>
        <p:spPr>
          <a:xfrm>
            <a:off x="6504900" y="2509025"/>
            <a:ext cx="2507526" cy="3136524"/>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pic>
        <p:nvPicPr>
          <p:cNvPr descr="Immagine che contiene calcio, collage, calcio/football americano, persona&#10;&#10;Il contenuto generato dall'IA potrebbe non essere corretto." id="108" name="Google Shape;108;g3617b676fc8_1_18"/>
          <p:cNvPicPr preferRelativeResize="0"/>
          <p:nvPr/>
        </p:nvPicPr>
        <p:blipFill rotWithShape="1">
          <a:blip r:embed="rId3">
            <a:alphaModFix amt="32000"/>
          </a:blip>
          <a:srcRect b="10332" l="69955" r="487" t="10977"/>
          <a:stretch/>
        </p:blipFill>
        <p:spPr>
          <a:xfrm>
            <a:off x="8551976" y="0"/>
            <a:ext cx="3640024" cy="6858001"/>
          </a:xfrm>
          <a:prstGeom prst="rect">
            <a:avLst/>
          </a:prstGeom>
          <a:noFill/>
          <a:ln>
            <a:noFill/>
          </a:ln>
          <a:effectLst>
            <a:outerShdw blurRad="50800" rotWithShape="0" algn="ctr" dir="5400000" dist="50800">
              <a:srgbClr val="000000"/>
            </a:outerShdw>
          </a:effectLst>
        </p:spPr>
      </p:pic>
      <p:pic>
        <p:nvPicPr>
          <p:cNvPr descr="Immagine che contiene calcio, collage, calcio/football americano, persona&#10;&#10;Il contenuto generato dall'IA potrebbe non essere corretto." id="109" name="Google Shape;109;g3617b676fc8_1_18"/>
          <p:cNvPicPr preferRelativeResize="0"/>
          <p:nvPr/>
        </p:nvPicPr>
        <p:blipFill rotWithShape="1">
          <a:blip r:embed="rId3">
            <a:alphaModFix amt="32000"/>
          </a:blip>
          <a:srcRect b="10332" l="514" r="69928" t="10977"/>
          <a:stretch/>
        </p:blipFill>
        <p:spPr>
          <a:xfrm>
            <a:off x="0" y="0"/>
            <a:ext cx="3640024" cy="6858001"/>
          </a:xfrm>
          <a:prstGeom prst="rect">
            <a:avLst/>
          </a:prstGeom>
          <a:noFill/>
          <a:ln>
            <a:noFill/>
          </a:ln>
          <a:effectLst>
            <a:outerShdw blurRad="50800" rotWithShape="0" algn="ctr" dir="5400000" dist="50800">
              <a:srgbClr val="000000"/>
            </a:outerShdw>
          </a:effectLst>
        </p:spPr>
      </p:pic>
      <p:sp>
        <p:nvSpPr>
          <p:cNvPr id="110" name="Google Shape;110;g3617b676fc8_1_18"/>
          <p:cNvSpPr txBox="1"/>
          <p:nvPr/>
        </p:nvSpPr>
        <p:spPr>
          <a:xfrm>
            <a:off x="3760050" y="1011600"/>
            <a:ext cx="4671900" cy="4834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000">
                <a:solidFill>
                  <a:srgbClr val="43C149"/>
                </a:solidFill>
                <a:latin typeface="Montserrat"/>
                <a:ea typeface="Montserrat"/>
                <a:cs typeface="Montserrat"/>
                <a:sym typeface="Montserrat"/>
              </a:rPr>
              <a:t>DataSet</a:t>
            </a:r>
            <a:endParaRPr sz="3000">
              <a:solidFill>
                <a:srgbClr val="43C149"/>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chemeClr val="lt1"/>
                </a:solidFill>
                <a:latin typeface="Montserrat ExtraLight"/>
                <a:ea typeface="Montserrat ExtraLight"/>
                <a:cs typeface="Montserrat ExtraLight"/>
                <a:sym typeface="Montserrat ExtraLight"/>
              </a:rPr>
              <a:t>We used a custom dataset from Kaggle called </a:t>
            </a:r>
            <a:r>
              <a:rPr i="1" lang="en-US" sz="1800">
                <a:solidFill>
                  <a:srgbClr val="43C149"/>
                </a:solidFill>
                <a:latin typeface="Montserrat"/>
                <a:ea typeface="Montserrat"/>
                <a:cs typeface="Montserrat"/>
                <a:sym typeface="Montserrat"/>
              </a:rPr>
              <a:t>Football Tackles</a:t>
            </a:r>
            <a:r>
              <a:rPr lang="en-US" sz="1800">
                <a:solidFill>
                  <a:schemeClr val="lt1"/>
                </a:solidFill>
                <a:latin typeface="Montserrat ExtraLight"/>
                <a:ea typeface="Montserrat ExtraLight"/>
                <a:cs typeface="Montserrat ExtraLight"/>
                <a:sym typeface="Montserrat ExtraLight"/>
              </a:rPr>
              <a:t>, which contains static images labeled as either ‘foul’ or ‘clean tackle’,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chemeClr val="lt1"/>
                </a:solidFill>
                <a:latin typeface="Montserrat ExtraLight"/>
                <a:ea typeface="Montserrat ExtraLight"/>
                <a:cs typeface="Montserrat ExtraLight"/>
                <a:sym typeface="Montserrat ExtraLight"/>
              </a:rPr>
              <a:t>(The dataset is publicly available at this </a:t>
            </a:r>
            <a:r>
              <a:rPr lang="en-US" sz="1800" u="sng">
                <a:solidFill>
                  <a:schemeClr val="lt1"/>
                </a:solidFill>
                <a:latin typeface="Montserrat ExtraLight"/>
                <a:ea typeface="Montserrat ExtraLight"/>
                <a:cs typeface="Montserrat ExtraLight"/>
                <a:sym typeface="Montserrat ExtraLight"/>
                <a:hlinkClick r:id="rId4">
                  <a:extLst>
                    <a:ext uri="{A12FA001-AC4F-418D-AE19-62706E023703}">
                      <ahyp:hlinkClr val="tx"/>
                    </a:ext>
                  </a:extLst>
                </a:hlinkClick>
              </a:rPr>
              <a:t>link</a:t>
            </a:r>
            <a:r>
              <a:rPr lang="en-US" sz="1800">
                <a:solidFill>
                  <a:schemeClr val="lt1"/>
                </a:solidFill>
                <a:latin typeface="Montserrat ExtraLight"/>
                <a:ea typeface="Montserrat ExtraLight"/>
                <a:cs typeface="Montserrat ExtraLight"/>
                <a:sym typeface="Montserrat ExtraLight"/>
              </a:rPr>
              <a:t>.)</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rtl="0" algn="ctr">
              <a:lnSpc>
                <a:spcPct val="115000"/>
              </a:lnSpc>
              <a:spcBef>
                <a:spcPts val="0"/>
              </a:spcBef>
              <a:spcAft>
                <a:spcPts val="0"/>
              </a:spcAft>
              <a:buSzPts val="1100"/>
              <a:buNone/>
            </a:pPr>
            <a:r>
              <a:rPr lang="en-US" sz="1800">
                <a:solidFill>
                  <a:schemeClr val="lt1"/>
                </a:solidFill>
                <a:latin typeface="Montserrat ExtraLight"/>
                <a:ea typeface="Montserrat ExtraLight"/>
                <a:cs typeface="Montserrat ExtraLight"/>
                <a:sym typeface="Montserrat ExtraLight"/>
              </a:rPr>
              <a:t>The dataset includes over 3,300 RGB images in various resolutions.</a:t>
            </a:r>
            <a:endParaRPr sz="1800">
              <a:solidFill>
                <a:schemeClr val="lt1"/>
              </a:solidFill>
              <a:latin typeface="Montserrat ExtraLight"/>
              <a:ea typeface="Montserrat ExtraLight"/>
              <a:cs typeface="Montserrat ExtraLight"/>
              <a:sym typeface="Montserrat ExtraLight"/>
            </a:endParaRPr>
          </a:p>
          <a:p>
            <a:pPr indent="0" lvl="0" marL="0" rtl="0" algn="ctr">
              <a:lnSpc>
                <a:spcPct val="115000"/>
              </a:lnSpc>
              <a:spcBef>
                <a:spcPts val="0"/>
              </a:spcBef>
              <a:spcAft>
                <a:spcPts val="0"/>
              </a:spcAft>
              <a:buClr>
                <a:schemeClr val="dk1"/>
              </a:buClr>
              <a:buSzPts val="1100"/>
              <a:buFont typeface="Arial"/>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chemeClr val="lt1"/>
                </a:solidFill>
                <a:latin typeface="Montserrat ExtraLight"/>
                <a:ea typeface="Montserrat ExtraLight"/>
                <a:cs typeface="Montserrat ExtraLight"/>
                <a:sym typeface="Montserrat ExtraLight"/>
              </a:rPr>
              <a:t>All images are extracted from real football matches and present a wide variety of game situations.</a:t>
            </a:r>
            <a:endParaRPr sz="1800">
              <a:solidFill>
                <a:schemeClr val="lt1"/>
              </a:solidFill>
              <a:latin typeface="Montserrat ExtraLight"/>
              <a:ea typeface="Montserrat ExtraLight"/>
              <a:cs typeface="Montserrat ExtraLight"/>
              <a:sym typeface="Montserrat ExtraLight"/>
            </a:endParaRPr>
          </a:p>
        </p:txBody>
      </p:sp>
      <p:pic>
        <p:nvPicPr>
          <p:cNvPr id="111" name="Google Shape;111;g3617b676fc8_1_18" title="Kaggle_logo.png"/>
          <p:cNvPicPr preferRelativeResize="0"/>
          <p:nvPr/>
        </p:nvPicPr>
        <p:blipFill>
          <a:blip r:embed="rId5">
            <a:alphaModFix/>
          </a:blip>
          <a:stretch>
            <a:fillRect/>
          </a:stretch>
        </p:blipFill>
        <p:spPr>
          <a:xfrm>
            <a:off x="3836250" y="6348325"/>
            <a:ext cx="873400" cy="337325"/>
          </a:xfrm>
          <a:prstGeom prst="rect">
            <a:avLst/>
          </a:prstGeom>
          <a:noFill/>
          <a:ln>
            <a:noFill/>
          </a:ln>
        </p:spPr>
      </p:pic>
      <p:pic>
        <p:nvPicPr>
          <p:cNvPr id="112" name="Google Shape;112;g3617b676fc8_1_18"/>
          <p:cNvPicPr preferRelativeResize="0"/>
          <p:nvPr/>
        </p:nvPicPr>
        <p:blipFill>
          <a:blip r:embed="rId6">
            <a:alphaModFix/>
          </a:blip>
          <a:stretch>
            <a:fillRect/>
          </a:stretch>
        </p:blipFill>
        <p:spPr>
          <a:xfrm>
            <a:off x="4527926" y="935412"/>
            <a:ext cx="664900" cy="667775"/>
          </a:xfrm>
          <a:prstGeom prst="rect">
            <a:avLst/>
          </a:prstGeom>
          <a:noFill/>
          <a:ln>
            <a:noFill/>
          </a:ln>
        </p:spPr>
      </p:pic>
      <p:sp>
        <p:nvSpPr>
          <p:cNvPr id="113" name="Google Shape;113;g3617b676fc8_1_18"/>
          <p:cNvSpPr txBox="1"/>
          <p:nvPr/>
        </p:nvSpPr>
        <p:spPr>
          <a:xfrm>
            <a:off x="4605725" y="1022988"/>
            <a:ext cx="56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02</a:t>
            </a:r>
            <a:endParaRPr sz="800">
              <a:solidFill>
                <a:schemeClr val="lt1"/>
              </a:solidFill>
            </a:endParaRPr>
          </a:p>
        </p:txBody>
      </p:sp>
      <p:pic>
        <p:nvPicPr>
          <p:cNvPr id="114" name="Google Shape;114;g3617b676fc8_1_18"/>
          <p:cNvPicPr preferRelativeResize="0"/>
          <p:nvPr/>
        </p:nvPicPr>
        <p:blipFill>
          <a:blip r:embed="rId7">
            <a:alphaModFix amt="90000"/>
          </a:blip>
          <a:stretch>
            <a:fillRect/>
          </a:stretch>
        </p:blipFill>
        <p:spPr>
          <a:xfrm>
            <a:off x="628775" y="2855775"/>
            <a:ext cx="2779524" cy="2228150"/>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9" name="Shape 119"/>
        <p:cNvGrpSpPr/>
        <p:nvPr/>
      </p:nvGrpSpPr>
      <p:grpSpPr>
        <a:xfrm>
          <a:off x="0" y="0"/>
          <a:ext cx="0" cy="0"/>
          <a:chOff x="0" y="0"/>
          <a:chExt cx="0" cy="0"/>
        </a:xfrm>
      </p:grpSpPr>
      <p:pic>
        <p:nvPicPr>
          <p:cNvPr descr="Immagine che contiene calcio, collage, calcio/football americano, persona&#10;&#10;Il contenuto generato dall'IA potrebbe non essere corretto." id="120" name="Google Shape;120;g3619e6e1c7d_2_11"/>
          <p:cNvPicPr preferRelativeResize="0"/>
          <p:nvPr/>
        </p:nvPicPr>
        <p:blipFill rotWithShape="1">
          <a:blip r:embed="rId3">
            <a:alphaModFix amt="32000"/>
          </a:blip>
          <a:srcRect b="10332" l="69955" r="487" t="10977"/>
          <a:stretch/>
        </p:blipFill>
        <p:spPr>
          <a:xfrm>
            <a:off x="8551976" y="0"/>
            <a:ext cx="3640024" cy="6858001"/>
          </a:xfrm>
          <a:prstGeom prst="rect">
            <a:avLst/>
          </a:prstGeom>
          <a:noFill/>
          <a:ln>
            <a:noFill/>
          </a:ln>
          <a:effectLst>
            <a:outerShdw blurRad="50800" rotWithShape="0" algn="ctr" dir="5400000" dist="50800">
              <a:srgbClr val="000000"/>
            </a:outerShdw>
          </a:effectLst>
        </p:spPr>
      </p:pic>
      <p:pic>
        <p:nvPicPr>
          <p:cNvPr descr="Immagine che contiene calcio, collage, calcio/football americano, persona&#10;&#10;Il contenuto generato dall'IA potrebbe non essere corretto." id="121" name="Google Shape;121;g3619e6e1c7d_2_11"/>
          <p:cNvPicPr preferRelativeResize="0"/>
          <p:nvPr/>
        </p:nvPicPr>
        <p:blipFill rotWithShape="1">
          <a:blip r:embed="rId3">
            <a:alphaModFix amt="32000"/>
          </a:blip>
          <a:srcRect b="10332" l="514" r="69928" t="10977"/>
          <a:stretch/>
        </p:blipFill>
        <p:spPr>
          <a:xfrm>
            <a:off x="0" y="0"/>
            <a:ext cx="3640024" cy="6858001"/>
          </a:xfrm>
          <a:prstGeom prst="rect">
            <a:avLst/>
          </a:prstGeom>
          <a:noFill/>
          <a:ln>
            <a:noFill/>
          </a:ln>
          <a:effectLst>
            <a:outerShdw blurRad="50800" rotWithShape="0" algn="ctr" dir="5400000" dist="50800">
              <a:srgbClr val="000000"/>
            </a:outerShdw>
          </a:effectLst>
        </p:spPr>
      </p:pic>
      <p:sp>
        <p:nvSpPr>
          <p:cNvPr id="122" name="Google Shape;122;g3619e6e1c7d_2_11"/>
          <p:cNvSpPr txBox="1"/>
          <p:nvPr/>
        </p:nvSpPr>
        <p:spPr>
          <a:xfrm>
            <a:off x="3760050" y="1443450"/>
            <a:ext cx="4671900" cy="4248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800">
                <a:solidFill>
                  <a:srgbClr val="43C149"/>
                </a:solidFill>
                <a:latin typeface="Montserrat"/>
                <a:ea typeface="Montserrat"/>
                <a:cs typeface="Montserrat"/>
                <a:sym typeface="Montserrat"/>
              </a:rPr>
              <a:t>Preprocessing</a:t>
            </a:r>
            <a:r>
              <a:rPr lang="en-US" sz="1800">
                <a:solidFill>
                  <a:schemeClr val="lt1"/>
                </a:solidFill>
                <a:latin typeface="Montserrat ExtraLight"/>
                <a:ea typeface="Montserrat ExtraLight"/>
                <a:cs typeface="Montserrat ExtraLight"/>
                <a:sym typeface="Montserrat ExtraLight"/>
              </a:rPr>
              <a:t> Steps</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All images resized to 224×224 pixels</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Converted to RGB format (if not already)</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Normalized using standard mean and std values (ImageNet)</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Converted to PyTorch tensors for training</a:t>
            </a:r>
            <a:endParaRPr sz="1800">
              <a:solidFill>
                <a:schemeClr val="lt1"/>
              </a:solidFill>
              <a:latin typeface="Montserrat ExtraLight"/>
              <a:ea typeface="Montserrat ExtraLight"/>
              <a:cs typeface="Montserrat ExtraLight"/>
              <a:sym typeface="Montserrat ExtraLight"/>
            </a:endParaRPr>
          </a:p>
          <a:p>
            <a:pPr indent="0" lvl="0" marL="0" rtl="0" algn="l">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rtl="0" algn="l">
              <a:spcBef>
                <a:spcPts val="0"/>
              </a:spcBef>
              <a:spcAft>
                <a:spcPts val="0"/>
              </a:spcAft>
              <a:buSzPts val="1100"/>
              <a:buNone/>
            </a:pPr>
            <a:r>
              <a:rPr lang="en-US" sz="1800">
                <a:solidFill>
                  <a:srgbClr val="43C149"/>
                </a:solidFill>
                <a:latin typeface="Montserrat"/>
                <a:ea typeface="Montserrat"/>
                <a:cs typeface="Montserrat"/>
                <a:sym typeface="Montserrat"/>
              </a:rPr>
              <a:t>Data Augmentation</a:t>
            </a:r>
            <a:r>
              <a:rPr lang="en-US" sz="1800">
                <a:solidFill>
                  <a:schemeClr val="lt1"/>
                </a:solidFill>
                <a:latin typeface="Montserrat ExtraLight"/>
                <a:ea typeface="Montserrat ExtraLight"/>
                <a:cs typeface="Montserrat ExtraLight"/>
                <a:sym typeface="Montserrat ExtraLight"/>
              </a:rPr>
              <a:t> Techniques</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Random horizontal flip</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Random rotation (±15°)</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Brightness and contrast adjustment</a:t>
            </a:r>
            <a:endParaRPr sz="1800">
              <a:solidFill>
                <a:schemeClr val="lt1"/>
              </a:solidFill>
              <a:latin typeface="Montserrat ExtraLight"/>
              <a:ea typeface="Montserrat ExtraLight"/>
              <a:cs typeface="Montserrat ExtraLight"/>
              <a:sym typeface="Montserrat ExtraLight"/>
            </a:endParaRPr>
          </a:p>
          <a:p>
            <a:pPr indent="-342900" lvl="0" marL="457200" rtl="0" algn="l">
              <a:spcBef>
                <a:spcPts val="0"/>
              </a:spcBef>
              <a:spcAft>
                <a:spcPts val="0"/>
              </a:spcAft>
              <a:buClr>
                <a:schemeClr val="lt1"/>
              </a:buClr>
              <a:buSzPts val="1800"/>
              <a:buFont typeface="Montserrat ExtraLight"/>
              <a:buChar char="●"/>
            </a:pPr>
            <a:r>
              <a:rPr lang="en-US" sz="1800">
                <a:solidFill>
                  <a:schemeClr val="lt1"/>
                </a:solidFill>
                <a:latin typeface="Montserrat ExtraLight"/>
                <a:ea typeface="Montserrat ExtraLight"/>
                <a:cs typeface="Montserrat ExtraLight"/>
                <a:sym typeface="Montserrat ExtraLight"/>
              </a:rPr>
              <a:t>Random crop and resize</a:t>
            </a:r>
            <a:endParaRPr b="1" sz="3000">
              <a:solidFill>
                <a:srgbClr val="43C149"/>
              </a:solidFill>
              <a:latin typeface="Montserrat"/>
              <a:ea typeface="Montserrat"/>
              <a:cs typeface="Montserrat"/>
              <a:sym typeface="Montserrat"/>
            </a:endParaRPr>
          </a:p>
        </p:txBody>
      </p:sp>
      <p:pic>
        <p:nvPicPr>
          <p:cNvPr id="123" name="Google Shape;123;g3619e6e1c7d_2_11" title="Il-calcio-Nigel-de-Jong-su-Xabi-Alonso.jpg"/>
          <p:cNvPicPr preferRelativeResize="0"/>
          <p:nvPr/>
        </p:nvPicPr>
        <p:blipFill rotWithShape="1">
          <a:blip r:embed="rId4">
            <a:alphaModFix amt="90000"/>
          </a:blip>
          <a:srcRect b="0" l="38164" r="0" t="0"/>
          <a:stretch/>
        </p:blipFill>
        <p:spPr>
          <a:xfrm>
            <a:off x="8954175" y="1304800"/>
            <a:ext cx="2523624" cy="2805674"/>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8" name="Shape 128"/>
        <p:cNvGrpSpPr/>
        <p:nvPr/>
      </p:nvGrpSpPr>
      <p:grpSpPr>
        <a:xfrm>
          <a:off x="0" y="0"/>
          <a:ext cx="0" cy="0"/>
          <a:chOff x="0" y="0"/>
          <a:chExt cx="0" cy="0"/>
        </a:xfrm>
      </p:grpSpPr>
      <p:pic>
        <p:nvPicPr>
          <p:cNvPr descr="Immagine che contiene calcio, collage, calcio/football americano, persona&#10;&#10;Il contenuto generato dall'IA potrebbe non essere corretto." id="129" name="Google Shape;129;g3619e6e1c7d_2_0"/>
          <p:cNvPicPr preferRelativeResize="0"/>
          <p:nvPr/>
        </p:nvPicPr>
        <p:blipFill rotWithShape="1">
          <a:blip r:embed="rId3">
            <a:alphaModFix amt="32000"/>
          </a:blip>
          <a:srcRect b="10332" l="511" r="43874" t="10977"/>
          <a:stretch/>
        </p:blipFill>
        <p:spPr>
          <a:xfrm>
            <a:off x="0" y="0"/>
            <a:ext cx="6848924" cy="6858001"/>
          </a:xfrm>
          <a:prstGeom prst="rect">
            <a:avLst/>
          </a:prstGeom>
          <a:noFill/>
          <a:ln>
            <a:noFill/>
          </a:ln>
          <a:effectLst>
            <a:outerShdw blurRad="50800" rotWithShape="0" algn="ctr" dir="5400000" dist="50800">
              <a:srgbClr val="000000"/>
            </a:outerShdw>
          </a:effectLst>
        </p:spPr>
      </p:pic>
      <p:sp>
        <p:nvSpPr>
          <p:cNvPr id="130" name="Google Shape;130;g3619e6e1c7d_2_0"/>
          <p:cNvSpPr txBox="1"/>
          <p:nvPr/>
        </p:nvSpPr>
        <p:spPr>
          <a:xfrm>
            <a:off x="6969875" y="1153950"/>
            <a:ext cx="4671900" cy="43959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Font typeface="Arial"/>
              <a:buNone/>
            </a:pPr>
            <a:r>
              <a:rPr b="1" lang="en-US" sz="3000">
                <a:solidFill>
                  <a:srgbClr val="43C149"/>
                </a:solidFill>
                <a:latin typeface="Montserrat"/>
                <a:ea typeface="Montserrat"/>
                <a:cs typeface="Montserrat"/>
                <a:sym typeface="Montserrat"/>
              </a:rPr>
              <a:t>Model overview</a:t>
            </a:r>
            <a:endParaRPr sz="3000">
              <a:solidFill>
                <a:srgbClr val="43C149"/>
              </a:solidFill>
              <a:latin typeface="Montserrat ExtraLight"/>
              <a:ea typeface="Montserrat ExtraLight"/>
              <a:cs typeface="Montserrat ExtraLight"/>
              <a:sym typeface="Montserrat ExtraLight"/>
            </a:endParaRPr>
          </a:p>
          <a:p>
            <a:pPr indent="0" lvl="0" marL="0" marR="0" rtl="0" algn="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rtl="0" algn="r">
              <a:lnSpc>
                <a:spcPct val="115000"/>
              </a:lnSpc>
              <a:spcBef>
                <a:spcPts val="1200"/>
              </a:spcBef>
              <a:spcAft>
                <a:spcPts val="0"/>
              </a:spcAft>
              <a:buClr>
                <a:schemeClr val="dk1"/>
              </a:buClr>
              <a:buSzPts val="1100"/>
              <a:buFont typeface="Arial"/>
              <a:buNone/>
            </a:pPr>
            <a:r>
              <a:rPr lang="en-US" sz="1800">
                <a:solidFill>
                  <a:srgbClr val="43C149"/>
                </a:solidFill>
                <a:latin typeface="Montserrat"/>
                <a:ea typeface="Montserrat"/>
                <a:cs typeface="Montserrat"/>
                <a:sym typeface="Montserrat"/>
              </a:rPr>
              <a:t>Goal:</a:t>
            </a:r>
            <a:br>
              <a:rPr lang="en-US" sz="1800">
                <a:solidFill>
                  <a:srgbClr val="43C149"/>
                </a:solidFill>
                <a:latin typeface="Montserrat"/>
                <a:ea typeface="Montserrat"/>
                <a:cs typeface="Montserrat"/>
                <a:sym typeface="Montserrat"/>
              </a:rPr>
            </a:br>
            <a:r>
              <a:rPr lang="en-US" sz="1800">
                <a:solidFill>
                  <a:schemeClr val="lt1"/>
                </a:solidFill>
                <a:latin typeface="Montserrat ExtraLight"/>
                <a:ea typeface="Montserrat ExtraLight"/>
                <a:cs typeface="Montserrat ExtraLight"/>
                <a:sym typeface="Montserrat ExtraLight"/>
              </a:rPr>
              <a:t>Build a simple yet effective CNN to classify football fouls from static images. </a:t>
            </a:r>
            <a:endParaRPr sz="1800">
              <a:solidFill>
                <a:schemeClr val="lt1"/>
              </a:solidFill>
              <a:latin typeface="Montserrat ExtraLight"/>
              <a:ea typeface="Montserrat ExtraLight"/>
              <a:cs typeface="Montserrat ExtraLight"/>
              <a:sym typeface="Montserrat ExtraLight"/>
            </a:endParaRPr>
          </a:p>
          <a:p>
            <a:pPr indent="0" lvl="0" marL="0" rtl="0" algn="r">
              <a:lnSpc>
                <a:spcPct val="115000"/>
              </a:lnSpc>
              <a:spcBef>
                <a:spcPts val="1200"/>
              </a:spcBef>
              <a:spcAft>
                <a:spcPts val="0"/>
              </a:spcAft>
              <a:buClr>
                <a:schemeClr val="dk1"/>
              </a:buClr>
              <a:buSzPts val="1100"/>
              <a:buFont typeface="Arial"/>
              <a:buNone/>
            </a:pPr>
            <a:r>
              <a:rPr lang="en-US" sz="1800">
                <a:solidFill>
                  <a:srgbClr val="43C149"/>
                </a:solidFill>
                <a:latin typeface="Montserrat"/>
                <a:ea typeface="Montserrat"/>
                <a:cs typeface="Montserrat"/>
                <a:sym typeface="Montserrat"/>
              </a:rPr>
              <a:t>Key Features:</a:t>
            </a:r>
            <a:r>
              <a:rPr lang="en-US" sz="1800">
                <a:solidFill>
                  <a:schemeClr val="lt1"/>
                </a:solidFill>
                <a:latin typeface="Montserrat"/>
                <a:ea typeface="Montserrat"/>
                <a:cs typeface="Montserrat"/>
                <a:sym typeface="Montserrat"/>
              </a:rPr>
              <a:t>                                   </a:t>
            </a:r>
            <a:r>
              <a:rPr lang="en-US" sz="1800">
                <a:solidFill>
                  <a:schemeClr val="lt1"/>
                </a:solidFill>
                <a:latin typeface="Montserrat ExtraLight"/>
                <a:ea typeface="Montserrat ExtraLight"/>
                <a:cs typeface="Montserrat ExtraLight"/>
                <a:sym typeface="Montserrat ExtraLight"/>
              </a:rPr>
              <a:t>Custom architecture, built from scratch Optimized for small datasets           Focus on speed and generalization</a:t>
            </a:r>
            <a:endParaRPr sz="1800">
              <a:solidFill>
                <a:schemeClr val="lt1"/>
              </a:solidFill>
              <a:latin typeface="Montserrat ExtraLight"/>
              <a:ea typeface="Montserrat ExtraLight"/>
              <a:cs typeface="Montserrat ExtraLight"/>
              <a:sym typeface="Montserrat ExtraLight"/>
            </a:endParaRPr>
          </a:p>
          <a:p>
            <a:pPr indent="0" lvl="0" marL="0" rtl="0" algn="r">
              <a:lnSpc>
                <a:spcPct val="115000"/>
              </a:lnSpc>
              <a:spcBef>
                <a:spcPts val="1200"/>
              </a:spcBef>
              <a:spcAft>
                <a:spcPts val="1200"/>
              </a:spcAft>
              <a:buClr>
                <a:schemeClr val="dk1"/>
              </a:buClr>
              <a:buSzPts val="1100"/>
              <a:buFont typeface="Arial"/>
              <a:buNone/>
            </a:pPr>
            <a:r>
              <a:rPr lang="en-US" sz="1800">
                <a:solidFill>
                  <a:srgbClr val="43C149"/>
                </a:solidFill>
                <a:latin typeface="Montserrat"/>
                <a:ea typeface="Montserrat"/>
                <a:cs typeface="Montserrat"/>
                <a:sym typeface="Montserrat"/>
              </a:rPr>
              <a:t>Output:                                                 </a:t>
            </a:r>
            <a:r>
              <a:rPr lang="en-US" sz="1800">
                <a:solidFill>
                  <a:schemeClr val="lt1"/>
                </a:solidFill>
                <a:latin typeface="Montserrat ExtraLight"/>
                <a:ea typeface="Montserrat ExtraLight"/>
                <a:cs typeface="Montserrat ExtraLight"/>
                <a:sym typeface="Montserrat ExtraLight"/>
              </a:rPr>
              <a:t>Binary classification → Foul / No Foul</a:t>
            </a:r>
            <a:endParaRPr sz="1800">
              <a:solidFill>
                <a:schemeClr val="lt1"/>
              </a:solidFill>
              <a:latin typeface="Montserrat ExtraLight"/>
              <a:ea typeface="Montserrat ExtraLight"/>
              <a:cs typeface="Montserrat ExtraLight"/>
              <a:sym typeface="Montserrat ExtraLight"/>
            </a:endParaRPr>
          </a:p>
        </p:txBody>
      </p:sp>
      <p:pic>
        <p:nvPicPr>
          <p:cNvPr id="131" name="Google Shape;131;g3619e6e1c7d_2_0"/>
          <p:cNvPicPr preferRelativeResize="0"/>
          <p:nvPr/>
        </p:nvPicPr>
        <p:blipFill>
          <a:blip r:embed="rId4">
            <a:alphaModFix/>
          </a:blip>
          <a:stretch>
            <a:fillRect/>
          </a:stretch>
        </p:blipFill>
        <p:spPr>
          <a:xfrm>
            <a:off x="7650676" y="1112112"/>
            <a:ext cx="664900" cy="667775"/>
          </a:xfrm>
          <a:prstGeom prst="rect">
            <a:avLst/>
          </a:prstGeom>
          <a:noFill/>
          <a:ln>
            <a:noFill/>
          </a:ln>
        </p:spPr>
      </p:pic>
      <p:sp>
        <p:nvSpPr>
          <p:cNvPr id="132" name="Google Shape;132;g3619e6e1c7d_2_0"/>
          <p:cNvSpPr txBox="1"/>
          <p:nvPr/>
        </p:nvSpPr>
        <p:spPr>
          <a:xfrm>
            <a:off x="7728475" y="1199688"/>
            <a:ext cx="56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03</a:t>
            </a:r>
            <a:endParaRPr sz="800">
              <a:solidFill>
                <a:schemeClr val="lt1"/>
              </a:solidFill>
            </a:endParaRPr>
          </a:p>
        </p:txBody>
      </p:sp>
      <p:pic>
        <p:nvPicPr>
          <p:cNvPr id="133" name="Google Shape;133;g3619e6e1c7d_2_0"/>
          <p:cNvPicPr preferRelativeResize="0"/>
          <p:nvPr/>
        </p:nvPicPr>
        <p:blipFill rotWithShape="1">
          <a:blip r:embed="rId5">
            <a:alphaModFix amt="90000"/>
          </a:blip>
          <a:srcRect b="21067" l="1341" r="50572" t="21085"/>
          <a:stretch/>
        </p:blipFill>
        <p:spPr>
          <a:xfrm>
            <a:off x="912325" y="851525"/>
            <a:ext cx="2348149" cy="2354000"/>
          </a:xfrm>
          <a:prstGeom prst="rect">
            <a:avLst/>
          </a:prstGeom>
          <a:noFill/>
          <a:ln cap="flat" cmpd="sng" w="28575">
            <a:solidFill>
              <a:schemeClr val="lt1"/>
            </a:solidFill>
            <a:prstDash val="solid"/>
            <a:round/>
            <a:headEnd len="sm" w="sm" type="none"/>
            <a:tailEnd len="sm" w="sm" type="none"/>
          </a:ln>
        </p:spPr>
      </p:pic>
      <p:pic>
        <p:nvPicPr>
          <p:cNvPr id="134" name="Google Shape;134;g3619e6e1c7d_2_0"/>
          <p:cNvPicPr preferRelativeResize="0"/>
          <p:nvPr/>
        </p:nvPicPr>
        <p:blipFill rotWithShape="1">
          <a:blip r:embed="rId5">
            <a:alphaModFix amt="90000"/>
          </a:blip>
          <a:srcRect b="20940" l="50634" r="1279" t="21212"/>
          <a:stretch/>
        </p:blipFill>
        <p:spPr>
          <a:xfrm>
            <a:off x="3789625" y="3838700"/>
            <a:ext cx="2348149" cy="2353990"/>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9" name="Shape 139"/>
        <p:cNvGrpSpPr/>
        <p:nvPr/>
      </p:nvGrpSpPr>
      <p:grpSpPr>
        <a:xfrm>
          <a:off x="0" y="0"/>
          <a:ext cx="0" cy="0"/>
          <a:chOff x="0" y="0"/>
          <a:chExt cx="0" cy="0"/>
        </a:xfrm>
      </p:grpSpPr>
      <p:pic>
        <p:nvPicPr>
          <p:cNvPr descr="Immagine che contiene calcio, collage, calcio/football americano, persona&#10;&#10;Il contenuto generato dall'IA potrebbe non essere corretto." id="140" name="Google Shape;140;g3619e6e1c7d_4_25"/>
          <p:cNvPicPr preferRelativeResize="0"/>
          <p:nvPr/>
        </p:nvPicPr>
        <p:blipFill rotWithShape="1">
          <a:blip r:embed="rId3">
            <a:alphaModFix amt="20000"/>
          </a:blip>
          <a:srcRect b="10332" l="514" r="485" t="10977"/>
          <a:stretch/>
        </p:blipFill>
        <p:spPr>
          <a:xfrm>
            <a:off x="0" y="0"/>
            <a:ext cx="12192001" cy="6858001"/>
          </a:xfrm>
          <a:prstGeom prst="rect">
            <a:avLst/>
          </a:prstGeom>
          <a:noFill/>
          <a:ln>
            <a:noFill/>
          </a:ln>
          <a:effectLst>
            <a:outerShdw blurRad="50800" rotWithShape="0" algn="ctr" dir="5400000" dist="50800">
              <a:srgbClr val="000000"/>
            </a:outerShdw>
          </a:effectLst>
        </p:spPr>
      </p:pic>
      <p:pic>
        <p:nvPicPr>
          <p:cNvPr id="141" name="Google Shape;141;g3619e6e1c7d_4_25"/>
          <p:cNvPicPr preferRelativeResize="0"/>
          <p:nvPr/>
        </p:nvPicPr>
        <p:blipFill>
          <a:blip r:embed="rId4">
            <a:alphaModFix/>
          </a:blip>
          <a:stretch>
            <a:fillRect/>
          </a:stretch>
        </p:blipFill>
        <p:spPr>
          <a:xfrm>
            <a:off x="695950" y="1590349"/>
            <a:ext cx="1656300" cy="4286902"/>
          </a:xfrm>
          <a:prstGeom prst="rect">
            <a:avLst/>
          </a:prstGeom>
          <a:noFill/>
          <a:ln>
            <a:noFill/>
          </a:ln>
        </p:spPr>
      </p:pic>
      <p:cxnSp>
        <p:nvCxnSpPr>
          <p:cNvPr id="142" name="Google Shape;142;g3619e6e1c7d_4_25"/>
          <p:cNvCxnSpPr/>
          <p:nvPr/>
        </p:nvCxnSpPr>
        <p:spPr>
          <a:xfrm>
            <a:off x="2381250" y="4866675"/>
            <a:ext cx="1354200" cy="37200"/>
          </a:xfrm>
          <a:prstGeom prst="straightConnector1">
            <a:avLst/>
          </a:prstGeom>
          <a:noFill/>
          <a:ln cap="flat" cmpd="sng" w="9525">
            <a:solidFill>
              <a:schemeClr val="lt1"/>
            </a:solidFill>
            <a:prstDash val="dash"/>
            <a:round/>
            <a:headEnd len="med" w="med" type="none"/>
            <a:tailEnd len="med" w="med" type="none"/>
          </a:ln>
        </p:spPr>
      </p:cxnSp>
      <p:cxnSp>
        <p:nvCxnSpPr>
          <p:cNvPr id="143" name="Google Shape;143;g3619e6e1c7d_4_25"/>
          <p:cNvCxnSpPr/>
          <p:nvPr/>
        </p:nvCxnSpPr>
        <p:spPr>
          <a:xfrm rot="10800000">
            <a:off x="9458100" y="2746250"/>
            <a:ext cx="607200" cy="417600"/>
          </a:xfrm>
          <a:prstGeom prst="straightConnector1">
            <a:avLst/>
          </a:prstGeom>
          <a:noFill/>
          <a:ln cap="flat" cmpd="sng" w="9525">
            <a:solidFill>
              <a:schemeClr val="lt1"/>
            </a:solidFill>
            <a:prstDash val="dash"/>
            <a:round/>
            <a:headEnd len="med" w="med" type="none"/>
            <a:tailEnd len="med" w="med" type="none"/>
          </a:ln>
        </p:spPr>
      </p:cxnSp>
      <p:cxnSp>
        <p:nvCxnSpPr>
          <p:cNvPr id="144" name="Google Shape;144;g3619e6e1c7d_4_25"/>
          <p:cNvCxnSpPr/>
          <p:nvPr/>
        </p:nvCxnSpPr>
        <p:spPr>
          <a:xfrm flipH="1" rot="10800000">
            <a:off x="10254700" y="3225200"/>
            <a:ext cx="924900" cy="61200"/>
          </a:xfrm>
          <a:prstGeom prst="straightConnector1">
            <a:avLst/>
          </a:prstGeom>
          <a:noFill/>
          <a:ln cap="flat" cmpd="sng" w="9525">
            <a:solidFill>
              <a:schemeClr val="lt1"/>
            </a:solidFill>
            <a:prstDash val="dash"/>
            <a:round/>
            <a:headEnd len="med" w="med" type="none"/>
            <a:tailEnd len="med" w="med" type="none"/>
          </a:ln>
        </p:spPr>
      </p:cxnSp>
      <p:cxnSp>
        <p:nvCxnSpPr>
          <p:cNvPr id="145" name="Google Shape;145;g3619e6e1c7d_4_25"/>
          <p:cNvCxnSpPr/>
          <p:nvPr/>
        </p:nvCxnSpPr>
        <p:spPr>
          <a:xfrm flipH="1">
            <a:off x="11312975" y="3280825"/>
            <a:ext cx="66900" cy="356700"/>
          </a:xfrm>
          <a:prstGeom prst="straightConnector1">
            <a:avLst/>
          </a:prstGeom>
          <a:noFill/>
          <a:ln cap="flat" cmpd="sng" w="9525">
            <a:solidFill>
              <a:schemeClr val="lt1"/>
            </a:solidFill>
            <a:prstDash val="dash"/>
            <a:round/>
            <a:headEnd len="med" w="med" type="none"/>
            <a:tailEnd len="med" w="med" type="none"/>
          </a:ln>
        </p:spPr>
      </p:cxnSp>
      <p:cxnSp>
        <p:nvCxnSpPr>
          <p:cNvPr id="146" name="Google Shape;146;g3619e6e1c7d_4_25"/>
          <p:cNvCxnSpPr/>
          <p:nvPr/>
        </p:nvCxnSpPr>
        <p:spPr>
          <a:xfrm flipH="1">
            <a:off x="11218400" y="3019025"/>
            <a:ext cx="139200" cy="534900"/>
          </a:xfrm>
          <a:prstGeom prst="straightConnector1">
            <a:avLst/>
          </a:prstGeom>
          <a:noFill/>
          <a:ln cap="flat" cmpd="sng" w="9525">
            <a:solidFill>
              <a:schemeClr val="lt1"/>
            </a:solidFill>
            <a:prstDash val="dash"/>
            <a:round/>
            <a:headEnd len="med" w="med" type="none"/>
            <a:tailEnd len="med" w="med" type="none"/>
          </a:ln>
        </p:spPr>
      </p:cxnSp>
      <p:cxnSp>
        <p:nvCxnSpPr>
          <p:cNvPr id="147" name="Google Shape;147;g3619e6e1c7d_4_25"/>
          <p:cNvCxnSpPr/>
          <p:nvPr/>
        </p:nvCxnSpPr>
        <p:spPr>
          <a:xfrm flipH="1" rot="10800000">
            <a:off x="3860125" y="4779050"/>
            <a:ext cx="1219800" cy="142200"/>
          </a:xfrm>
          <a:prstGeom prst="straightConnector1">
            <a:avLst/>
          </a:prstGeom>
          <a:noFill/>
          <a:ln cap="flat" cmpd="sng" w="9525">
            <a:solidFill>
              <a:schemeClr val="lt1"/>
            </a:solidFill>
            <a:prstDash val="dash"/>
            <a:round/>
            <a:headEnd len="med" w="med" type="none"/>
            <a:tailEnd len="med" w="med" type="none"/>
          </a:ln>
        </p:spPr>
      </p:cxnSp>
      <p:cxnSp>
        <p:nvCxnSpPr>
          <p:cNvPr id="148" name="Google Shape;148;g3619e6e1c7d_4_25"/>
          <p:cNvCxnSpPr/>
          <p:nvPr/>
        </p:nvCxnSpPr>
        <p:spPr>
          <a:xfrm flipH="1" rot="10800000">
            <a:off x="5217850" y="4595375"/>
            <a:ext cx="931500" cy="171300"/>
          </a:xfrm>
          <a:prstGeom prst="straightConnector1">
            <a:avLst/>
          </a:prstGeom>
          <a:noFill/>
          <a:ln cap="flat" cmpd="sng" w="9525">
            <a:solidFill>
              <a:schemeClr val="lt1"/>
            </a:solidFill>
            <a:prstDash val="dash"/>
            <a:round/>
            <a:headEnd len="med" w="med" type="none"/>
            <a:tailEnd len="med" w="med" type="none"/>
          </a:ln>
        </p:spPr>
      </p:cxnSp>
      <p:cxnSp>
        <p:nvCxnSpPr>
          <p:cNvPr id="149" name="Google Shape;149;g3619e6e1c7d_4_25"/>
          <p:cNvCxnSpPr/>
          <p:nvPr/>
        </p:nvCxnSpPr>
        <p:spPr>
          <a:xfrm flipH="1" rot="10800000">
            <a:off x="6270625" y="4403350"/>
            <a:ext cx="848100" cy="200400"/>
          </a:xfrm>
          <a:prstGeom prst="straightConnector1">
            <a:avLst/>
          </a:prstGeom>
          <a:noFill/>
          <a:ln cap="flat" cmpd="sng" w="9525">
            <a:solidFill>
              <a:schemeClr val="lt1"/>
            </a:solidFill>
            <a:prstDash val="dash"/>
            <a:round/>
            <a:headEnd len="med" w="med" type="none"/>
            <a:tailEnd len="med" w="med" type="none"/>
          </a:ln>
        </p:spPr>
      </p:cxnSp>
      <p:sp>
        <p:nvSpPr>
          <p:cNvPr id="150" name="Google Shape;150;g3619e6e1c7d_4_25"/>
          <p:cNvSpPr txBox="1"/>
          <p:nvPr/>
        </p:nvSpPr>
        <p:spPr>
          <a:xfrm>
            <a:off x="243750" y="441500"/>
            <a:ext cx="5098200" cy="5541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Font typeface="Arial"/>
              <a:buNone/>
            </a:pPr>
            <a:r>
              <a:rPr b="1" lang="en-US" sz="3000">
                <a:solidFill>
                  <a:srgbClr val="43C149"/>
                </a:solidFill>
                <a:latin typeface="Montserrat"/>
                <a:ea typeface="Montserrat"/>
                <a:cs typeface="Montserrat"/>
                <a:sym typeface="Montserrat"/>
              </a:rPr>
              <a:t>Model architecture</a:t>
            </a:r>
            <a:endParaRPr sz="1800">
              <a:solidFill>
                <a:schemeClr val="lt1"/>
              </a:solidFill>
              <a:latin typeface="Montserrat ExtraLight"/>
              <a:ea typeface="Montserrat ExtraLight"/>
              <a:cs typeface="Montserrat ExtraLight"/>
              <a:sym typeface="Montserrat ExtraLight"/>
            </a:endParaRPr>
          </a:p>
        </p:txBody>
      </p:sp>
      <p:pic>
        <p:nvPicPr>
          <p:cNvPr id="151" name="Google Shape;151;g3619e6e1c7d_4_25"/>
          <p:cNvPicPr preferRelativeResize="0"/>
          <p:nvPr/>
        </p:nvPicPr>
        <p:blipFill>
          <a:blip r:embed="rId5">
            <a:alphaModFix/>
          </a:blip>
          <a:stretch>
            <a:fillRect/>
          </a:stretch>
        </p:blipFill>
        <p:spPr>
          <a:xfrm>
            <a:off x="695951" y="389612"/>
            <a:ext cx="664900" cy="667775"/>
          </a:xfrm>
          <a:prstGeom prst="rect">
            <a:avLst/>
          </a:prstGeom>
          <a:noFill/>
          <a:ln>
            <a:noFill/>
          </a:ln>
        </p:spPr>
      </p:pic>
      <p:sp>
        <p:nvSpPr>
          <p:cNvPr id="152" name="Google Shape;152;g3619e6e1c7d_4_25"/>
          <p:cNvSpPr txBox="1"/>
          <p:nvPr/>
        </p:nvSpPr>
        <p:spPr>
          <a:xfrm>
            <a:off x="773750" y="477188"/>
            <a:ext cx="56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04</a:t>
            </a:r>
            <a:endParaRPr sz="800">
              <a:solidFill>
                <a:schemeClr val="lt1"/>
              </a:solidFill>
            </a:endParaRPr>
          </a:p>
        </p:txBody>
      </p:sp>
      <p:pic>
        <p:nvPicPr>
          <p:cNvPr id="153" name="Google Shape;153;g3619e6e1c7d_4_25"/>
          <p:cNvPicPr preferRelativeResize="0"/>
          <p:nvPr/>
        </p:nvPicPr>
        <p:blipFill>
          <a:blip r:embed="rId6">
            <a:alphaModFix/>
          </a:blip>
          <a:stretch>
            <a:fillRect/>
          </a:stretch>
        </p:blipFill>
        <p:spPr>
          <a:xfrm>
            <a:off x="2128250" y="1479625"/>
            <a:ext cx="1752600" cy="4451300"/>
          </a:xfrm>
          <a:prstGeom prst="rect">
            <a:avLst/>
          </a:prstGeom>
          <a:noFill/>
          <a:ln>
            <a:noFill/>
          </a:ln>
        </p:spPr>
      </p:pic>
      <p:pic>
        <p:nvPicPr>
          <p:cNvPr id="154" name="Google Shape;154;g3619e6e1c7d_4_25"/>
          <p:cNvPicPr preferRelativeResize="0"/>
          <p:nvPr/>
        </p:nvPicPr>
        <p:blipFill>
          <a:blip r:embed="rId7">
            <a:alphaModFix/>
          </a:blip>
          <a:stretch>
            <a:fillRect/>
          </a:stretch>
        </p:blipFill>
        <p:spPr>
          <a:xfrm>
            <a:off x="8141312" y="2939000"/>
            <a:ext cx="2117950" cy="1532550"/>
          </a:xfrm>
          <a:prstGeom prst="rect">
            <a:avLst/>
          </a:prstGeom>
          <a:noFill/>
          <a:ln>
            <a:noFill/>
          </a:ln>
        </p:spPr>
      </p:pic>
      <p:pic>
        <p:nvPicPr>
          <p:cNvPr id="155" name="Google Shape;155;g3619e6e1c7d_4_25"/>
          <p:cNvPicPr preferRelativeResize="0"/>
          <p:nvPr/>
        </p:nvPicPr>
        <p:blipFill>
          <a:blip r:embed="rId8">
            <a:alphaModFix/>
          </a:blip>
          <a:stretch>
            <a:fillRect/>
          </a:stretch>
        </p:blipFill>
        <p:spPr>
          <a:xfrm>
            <a:off x="9265800" y="2939000"/>
            <a:ext cx="2121408" cy="1532550"/>
          </a:xfrm>
          <a:prstGeom prst="rect">
            <a:avLst/>
          </a:prstGeom>
          <a:noFill/>
          <a:ln>
            <a:noFill/>
          </a:ln>
        </p:spPr>
      </p:pic>
      <p:pic>
        <p:nvPicPr>
          <p:cNvPr id="156" name="Google Shape;156;g3619e6e1c7d_4_25"/>
          <p:cNvPicPr preferRelativeResize="0"/>
          <p:nvPr/>
        </p:nvPicPr>
        <p:blipFill>
          <a:blip r:embed="rId9">
            <a:alphaModFix/>
          </a:blip>
          <a:stretch>
            <a:fillRect/>
          </a:stretch>
        </p:blipFill>
        <p:spPr>
          <a:xfrm>
            <a:off x="10794375" y="3343917"/>
            <a:ext cx="664900" cy="722717"/>
          </a:xfrm>
          <a:prstGeom prst="rect">
            <a:avLst/>
          </a:prstGeom>
          <a:noFill/>
          <a:ln>
            <a:noFill/>
          </a:ln>
        </p:spPr>
      </p:pic>
      <p:sp>
        <p:nvSpPr>
          <p:cNvPr id="157" name="Google Shape;157;g3619e6e1c7d_4_25"/>
          <p:cNvSpPr txBox="1"/>
          <p:nvPr/>
        </p:nvSpPr>
        <p:spPr>
          <a:xfrm>
            <a:off x="1831150" y="5890875"/>
            <a:ext cx="11184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Conv 1</a:t>
            </a:r>
            <a:endParaRPr>
              <a:solidFill>
                <a:schemeClr val="lt1"/>
              </a:solidFill>
              <a:latin typeface="Montserrat"/>
              <a:ea typeface="Montserrat"/>
              <a:cs typeface="Montserrat"/>
              <a:sym typeface="Montserrat"/>
            </a:endParaRPr>
          </a:p>
        </p:txBody>
      </p:sp>
      <p:sp>
        <p:nvSpPr>
          <p:cNvPr id="158" name="Google Shape;158;g3619e6e1c7d_4_25"/>
          <p:cNvSpPr txBox="1"/>
          <p:nvPr/>
        </p:nvSpPr>
        <p:spPr>
          <a:xfrm>
            <a:off x="3233000" y="5762050"/>
            <a:ext cx="17526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Conv 2</a:t>
            </a:r>
            <a:endParaRPr>
              <a:solidFill>
                <a:schemeClr val="lt1"/>
              </a:solidFill>
              <a:latin typeface="Montserrat"/>
              <a:ea typeface="Montserrat"/>
              <a:cs typeface="Montserrat"/>
              <a:sym typeface="Montserrat"/>
            </a:endParaRPr>
          </a:p>
        </p:txBody>
      </p:sp>
      <p:sp>
        <p:nvSpPr>
          <p:cNvPr id="159" name="Google Shape;159;g3619e6e1c7d_4_25"/>
          <p:cNvSpPr txBox="1"/>
          <p:nvPr/>
        </p:nvSpPr>
        <p:spPr>
          <a:xfrm>
            <a:off x="4648775" y="5520950"/>
            <a:ext cx="11184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Conv 3</a:t>
            </a:r>
            <a:endParaRPr sz="1800">
              <a:solidFill>
                <a:schemeClr val="lt1"/>
              </a:solidFill>
              <a:latin typeface="Montserrat"/>
              <a:ea typeface="Montserrat"/>
              <a:cs typeface="Montserrat"/>
              <a:sym typeface="Montserrat"/>
            </a:endParaRPr>
          </a:p>
        </p:txBody>
      </p:sp>
      <p:sp>
        <p:nvSpPr>
          <p:cNvPr id="160" name="Google Shape;160;g3619e6e1c7d_4_25"/>
          <p:cNvSpPr txBox="1"/>
          <p:nvPr/>
        </p:nvSpPr>
        <p:spPr>
          <a:xfrm>
            <a:off x="5882900" y="5334075"/>
            <a:ext cx="11184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Conv 4</a:t>
            </a:r>
            <a:endParaRPr>
              <a:solidFill>
                <a:schemeClr val="lt1"/>
              </a:solidFill>
            </a:endParaRPr>
          </a:p>
        </p:txBody>
      </p:sp>
      <p:sp>
        <p:nvSpPr>
          <p:cNvPr id="161" name="Google Shape;161;g3619e6e1c7d_4_25"/>
          <p:cNvSpPr txBox="1"/>
          <p:nvPr/>
        </p:nvSpPr>
        <p:spPr>
          <a:xfrm>
            <a:off x="6714475" y="4917675"/>
            <a:ext cx="17526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Flatten</a:t>
            </a:r>
            <a:endParaRPr sz="1300">
              <a:solidFill>
                <a:schemeClr val="lt1"/>
              </a:solidFill>
            </a:endParaRPr>
          </a:p>
        </p:txBody>
      </p:sp>
      <p:sp>
        <p:nvSpPr>
          <p:cNvPr id="162" name="Google Shape;162;g3619e6e1c7d_4_25"/>
          <p:cNvSpPr txBox="1"/>
          <p:nvPr/>
        </p:nvSpPr>
        <p:spPr>
          <a:xfrm>
            <a:off x="7630675" y="4559225"/>
            <a:ext cx="1752600" cy="4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chemeClr val="lt1"/>
                </a:solidFill>
                <a:latin typeface="Montserrat"/>
                <a:ea typeface="Montserrat"/>
                <a:cs typeface="Montserrat"/>
                <a:sym typeface="Montserrat"/>
              </a:rPr>
              <a:t>Fully Connected </a:t>
            </a:r>
            <a:endParaRPr sz="1800">
              <a:solidFill>
                <a:schemeClr val="lt1"/>
              </a:solidFill>
              <a:latin typeface="Montserrat"/>
              <a:ea typeface="Montserrat"/>
              <a:cs typeface="Montserrat"/>
              <a:sym typeface="Montserrat"/>
            </a:endParaRPr>
          </a:p>
        </p:txBody>
      </p:sp>
      <p:sp>
        <p:nvSpPr>
          <p:cNvPr id="163" name="Google Shape;163;g3619e6e1c7d_4_25"/>
          <p:cNvSpPr txBox="1"/>
          <p:nvPr/>
        </p:nvSpPr>
        <p:spPr>
          <a:xfrm>
            <a:off x="9351626" y="4501275"/>
            <a:ext cx="13332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Softmax</a:t>
            </a:r>
            <a:endParaRPr sz="1600">
              <a:solidFill>
                <a:schemeClr val="lt1"/>
              </a:solidFill>
              <a:latin typeface="Montserrat"/>
              <a:ea typeface="Montserrat"/>
              <a:cs typeface="Montserrat"/>
              <a:sym typeface="Montserrat"/>
            </a:endParaRPr>
          </a:p>
        </p:txBody>
      </p:sp>
      <p:sp>
        <p:nvSpPr>
          <p:cNvPr id="164" name="Google Shape;164;g3619e6e1c7d_4_25"/>
          <p:cNvSpPr txBox="1"/>
          <p:nvPr/>
        </p:nvSpPr>
        <p:spPr>
          <a:xfrm>
            <a:off x="10673095" y="4066625"/>
            <a:ext cx="11184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lt1"/>
                </a:solidFill>
                <a:latin typeface="Montserrat"/>
                <a:ea typeface="Montserrat"/>
                <a:cs typeface="Montserrat"/>
                <a:sym typeface="Montserrat"/>
              </a:rPr>
              <a:t>Output</a:t>
            </a:r>
            <a:endParaRPr sz="1800">
              <a:solidFill>
                <a:schemeClr val="lt1"/>
              </a:solidFill>
              <a:latin typeface="Montserrat"/>
              <a:ea typeface="Montserrat"/>
              <a:cs typeface="Montserrat"/>
              <a:sym typeface="Montserrat"/>
            </a:endParaRPr>
          </a:p>
        </p:txBody>
      </p:sp>
      <p:cxnSp>
        <p:nvCxnSpPr>
          <p:cNvPr id="165" name="Google Shape;165;g3619e6e1c7d_4_25"/>
          <p:cNvCxnSpPr/>
          <p:nvPr/>
        </p:nvCxnSpPr>
        <p:spPr>
          <a:xfrm>
            <a:off x="8086075" y="3694175"/>
            <a:ext cx="3676200" cy="0"/>
          </a:xfrm>
          <a:prstGeom prst="straightConnector1">
            <a:avLst/>
          </a:prstGeom>
          <a:noFill/>
          <a:ln cap="flat" cmpd="sng" w="38100">
            <a:solidFill>
              <a:schemeClr val="lt1"/>
            </a:solidFill>
            <a:prstDash val="solid"/>
            <a:round/>
            <a:headEnd len="med" w="med" type="none"/>
            <a:tailEnd len="med" w="med" type="triangle"/>
          </a:ln>
        </p:spPr>
      </p:cxnSp>
      <p:cxnSp>
        <p:nvCxnSpPr>
          <p:cNvPr id="166" name="Google Shape;166;g3619e6e1c7d_4_25"/>
          <p:cNvCxnSpPr/>
          <p:nvPr/>
        </p:nvCxnSpPr>
        <p:spPr>
          <a:xfrm>
            <a:off x="8238400" y="3694250"/>
            <a:ext cx="2672100" cy="0"/>
          </a:xfrm>
          <a:prstGeom prst="straightConnector1">
            <a:avLst/>
          </a:prstGeom>
          <a:noFill/>
          <a:ln cap="flat" cmpd="sng" w="38100">
            <a:solidFill>
              <a:schemeClr val="lt1"/>
            </a:solidFill>
            <a:prstDash val="solid"/>
            <a:round/>
            <a:headEnd len="med" w="med" type="none"/>
            <a:tailEnd len="med" w="med" type="triangle"/>
          </a:ln>
        </p:spPr>
      </p:cxnSp>
      <p:cxnSp>
        <p:nvCxnSpPr>
          <p:cNvPr id="167" name="Google Shape;167;g3619e6e1c7d_4_25"/>
          <p:cNvCxnSpPr/>
          <p:nvPr/>
        </p:nvCxnSpPr>
        <p:spPr>
          <a:xfrm>
            <a:off x="2298525" y="2517650"/>
            <a:ext cx="1404300" cy="125100"/>
          </a:xfrm>
          <a:prstGeom prst="straightConnector1">
            <a:avLst/>
          </a:prstGeom>
          <a:noFill/>
          <a:ln cap="flat" cmpd="sng" w="9525">
            <a:solidFill>
              <a:schemeClr val="lt1"/>
            </a:solidFill>
            <a:prstDash val="dash"/>
            <a:round/>
            <a:headEnd len="med" w="med" type="none"/>
            <a:tailEnd len="med" w="med" type="none"/>
          </a:ln>
        </p:spPr>
      </p:cxnSp>
      <p:cxnSp>
        <p:nvCxnSpPr>
          <p:cNvPr id="168" name="Google Shape;168;g3619e6e1c7d_4_25"/>
          <p:cNvCxnSpPr/>
          <p:nvPr/>
        </p:nvCxnSpPr>
        <p:spPr>
          <a:xfrm>
            <a:off x="3868125" y="1533850"/>
            <a:ext cx="1207500" cy="241500"/>
          </a:xfrm>
          <a:prstGeom prst="straightConnector1">
            <a:avLst/>
          </a:prstGeom>
          <a:noFill/>
          <a:ln cap="flat" cmpd="sng" w="9525">
            <a:solidFill>
              <a:schemeClr val="lt1"/>
            </a:solidFill>
            <a:prstDash val="dash"/>
            <a:round/>
            <a:headEnd len="med" w="med" type="none"/>
            <a:tailEnd len="med" w="med" type="none"/>
          </a:ln>
        </p:spPr>
      </p:cxnSp>
      <p:cxnSp>
        <p:nvCxnSpPr>
          <p:cNvPr id="169" name="Google Shape;169;g3619e6e1c7d_4_25"/>
          <p:cNvCxnSpPr/>
          <p:nvPr/>
        </p:nvCxnSpPr>
        <p:spPr>
          <a:xfrm flipH="1" rot="10800000">
            <a:off x="2289575" y="5616600"/>
            <a:ext cx="1408800" cy="290700"/>
          </a:xfrm>
          <a:prstGeom prst="straightConnector1">
            <a:avLst/>
          </a:prstGeom>
          <a:noFill/>
          <a:ln cap="flat" cmpd="sng" w="9525">
            <a:solidFill>
              <a:schemeClr val="lt1"/>
            </a:solidFill>
            <a:prstDash val="dash"/>
            <a:round/>
            <a:headEnd len="med" w="med" type="none"/>
            <a:tailEnd len="med" w="med" type="none"/>
          </a:ln>
        </p:spPr>
      </p:cxnSp>
      <p:cxnSp>
        <p:nvCxnSpPr>
          <p:cNvPr id="170" name="Google Shape;170;g3619e6e1c7d_4_25"/>
          <p:cNvCxnSpPr/>
          <p:nvPr/>
        </p:nvCxnSpPr>
        <p:spPr>
          <a:xfrm flipH="1" rot="10800000">
            <a:off x="3854725" y="5317125"/>
            <a:ext cx="1086600" cy="312900"/>
          </a:xfrm>
          <a:prstGeom prst="straightConnector1">
            <a:avLst/>
          </a:prstGeom>
          <a:noFill/>
          <a:ln cap="flat" cmpd="sng" w="9525">
            <a:solidFill>
              <a:schemeClr val="lt1"/>
            </a:solidFill>
            <a:prstDash val="dash"/>
            <a:round/>
            <a:headEnd len="med" w="med" type="none"/>
            <a:tailEnd len="med" w="med" type="none"/>
          </a:ln>
        </p:spPr>
      </p:cxnSp>
      <p:cxnSp>
        <p:nvCxnSpPr>
          <p:cNvPr id="171" name="Google Shape;171;g3619e6e1c7d_4_25"/>
          <p:cNvCxnSpPr/>
          <p:nvPr/>
        </p:nvCxnSpPr>
        <p:spPr>
          <a:xfrm flipH="1" rot="10800000">
            <a:off x="5106825" y="5012825"/>
            <a:ext cx="1015200" cy="299700"/>
          </a:xfrm>
          <a:prstGeom prst="straightConnector1">
            <a:avLst/>
          </a:prstGeom>
          <a:noFill/>
          <a:ln cap="flat" cmpd="sng" w="9525">
            <a:solidFill>
              <a:schemeClr val="lt1"/>
            </a:solidFill>
            <a:prstDash val="dash"/>
            <a:round/>
            <a:headEnd len="med" w="med" type="none"/>
            <a:tailEnd len="med" w="med" type="none"/>
          </a:ln>
        </p:spPr>
      </p:cxnSp>
      <p:cxnSp>
        <p:nvCxnSpPr>
          <p:cNvPr id="172" name="Google Shape;172;g3619e6e1c7d_4_25"/>
          <p:cNvCxnSpPr/>
          <p:nvPr/>
        </p:nvCxnSpPr>
        <p:spPr>
          <a:xfrm>
            <a:off x="5218625" y="1811100"/>
            <a:ext cx="876600" cy="272700"/>
          </a:xfrm>
          <a:prstGeom prst="straightConnector1">
            <a:avLst/>
          </a:prstGeom>
          <a:noFill/>
          <a:ln cap="flat" cmpd="sng" w="9525">
            <a:solidFill>
              <a:schemeClr val="lt1"/>
            </a:solidFill>
            <a:prstDash val="dash"/>
            <a:round/>
            <a:headEnd len="med" w="med" type="none"/>
            <a:tailEnd len="med" w="med" type="none"/>
          </a:ln>
        </p:spPr>
      </p:cxnSp>
      <p:cxnSp>
        <p:nvCxnSpPr>
          <p:cNvPr id="173" name="Google Shape;173;g3619e6e1c7d_4_25"/>
          <p:cNvCxnSpPr/>
          <p:nvPr/>
        </p:nvCxnSpPr>
        <p:spPr>
          <a:xfrm rot="10800000">
            <a:off x="6251625" y="2115275"/>
            <a:ext cx="809400" cy="268200"/>
          </a:xfrm>
          <a:prstGeom prst="straightConnector1">
            <a:avLst/>
          </a:prstGeom>
          <a:noFill/>
          <a:ln cap="flat" cmpd="sng" w="9525">
            <a:solidFill>
              <a:schemeClr val="lt1"/>
            </a:solidFill>
            <a:prstDash val="dash"/>
            <a:round/>
            <a:headEnd len="med" w="med" type="none"/>
            <a:tailEnd len="med" w="med" type="none"/>
          </a:ln>
        </p:spPr>
      </p:cxnSp>
      <p:cxnSp>
        <p:nvCxnSpPr>
          <p:cNvPr id="174" name="Google Shape;174;g3619e6e1c7d_4_25"/>
          <p:cNvCxnSpPr/>
          <p:nvPr/>
        </p:nvCxnSpPr>
        <p:spPr>
          <a:xfrm rot="10800000">
            <a:off x="7222100" y="2414875"/>
            <a:ext cx="1985400" cy="82800"/>
          </a:xfrm>
          <a:prstGeom prst="straightConnector1">
            <a:avLst/>
          </a:prstGeom>
          <a:noFill/>
          <a:ln cap="flat" cmpd="sng" w="9525">
            <a:solidFill>
              <a:schemeClr val="lt1"/>
            </a:solidFill>
            <a:prstDash val="dash"/>
            <a:round/>
            <a:headEnd len="med" w="med" type="none"/>
            <a:tailEnd len="med" w="med" type="none"/>
          </a:ln>
        </p:spPr>
      </p:cxnSp>
      <p:pic>
        <p:nvPicPr>
          <p:cNvPr id="175" name="Google Shape;175;g3619e6e1c7d_4_25"/>
          <p:cNvPicPr preferRelativeResize="0"/>
          <p:nvPr/>
        </p:nvPicPr>
        <p:blipFill>
          <a:blip r:embed="rId10">
            <a:alphaModFix/>
          </a:blip>
          <a:stretch>
            <a:fillRect/>
          </a:stretch>
        </p:blipFill>
        <p:spPr>
          <a:xfrm>
            <a:off x="3689425" y="1758577"/>
            <a:ext cx="1546500" cy="3893396"/>
          </a:xfrm>
          <a:prstGeom prst="rect">
            <a:avLst/>
          </a:prstGeom>
          <a:noFill/>
          <a:ln>
            <a:noFill/>
          </a:ln>
        </p:spPr>
      </p:pic>
      <p:pic>
        <p:nvPicPr>
          <p:cNvPr id="176" name="Google Shape;176;g3619e6e1c7d_4_25"/>
          <p:cNvPicPr preferRelativeResize="0"/>
          <p:nvPr/>
        </p:nvPicPr>
        <p:blipFill>
          <a:blip r:embed="rId11">
            <a:alphaModFix/>
          </a:blip>
          <a:stretch>
            <a:fillRect/>
          </a:stretch>
        </p:blipFill>
        <p:spPr>
          <a:xfrm>
            <a:off x="4931400" y="2065550"/>
            <a:ext cx="1333250" cy="3279450"/>
          </a:xfrm>
          <a:prstGeom prst="rect">
            <a:avLst/>
          </a:prstGeom>
          <a:noFill/>
          <a:ln>
            <a:noFill/>
          </a:ln>
        </p:spPr>
      </p:pic>
      <p:pic>
        <p:nvPicPr>
          <p:cNvPr id="177" name="Google Shape;177;g3619e6e1c7d_4_25"/>
          <p:cNvPicPr preferRelativeResize="0"/>
          <p:nvPr/>
        </p:nvPicPr>
        <p:blipFill>
          <a:blip r:embed="rId12">
            <a:alphaModFix/>
          </a:blip>
          <a:stretch>
            <a:fillRect/>
          </a:stretch>
        </p:blipFill>
        <p:spPr>
          <a:xfrm>
            <a:off x="6106738" y="2360112"/>
            <a:ext cx="1118450" cy="2690325"/>
          </a:xfrm>
          <a:prstGeom prst="rect">
            <a:avLst/>
          </a:prstGeom>
          <a:noFill/>
          <a:ln>
            <a:noFill/>
          </a:ln>
        </p:spPr>
      </p:pic>
      <p:cxnSp>
        <p:nvCxnSpPr>
          <p:cNvPr id="178" name="Google Shape;178;g3619e6e1c7d_4_25"/>
          <p:cNvCxnSpPr/>
          <p:nvPr/>
        </p:nvCxnSpPr>
        <p:spPr>
          <a:xfrm>
            <a:off x="3850250" y="2669675"/>
            <a:ext cx="1109100" cy="147600"/>
          </a:xfrm>
          <a:prstGeom prst="straightConnector1">
            <a:avLst/>
          </a:prstGeom>
          <a:noFill/>
          <a:ln cap="flat" cmpd="sng" w="9525">
            <a:solidFill>
              <a:schemeClr val="lt1"/>
            </a:solidFill>
            <a:prstDash val="dash"/>
            <a:round/>
            <a:headEnd len="med" w="med" type="none"/>
            <a:tailEnd len="med" w="med" type="none"/>
          </a:ln>
        </p:spPr>
      </p:cxnSp>
      <p:cxnSp>
        <p:nvCxnSpPr>
          <p:cNvPr id="179" name="Google Shape;179;g3619e6e1c7d_4_25"/>
          <p:cNvCxnSpPr/>
          <p:nvPr/>
        </p:nvCxnSpPr>
        <p:spPr>
          <a:xfrm>
            <a:off x="5097875" y="2839625"/>
            <a:ext cx="1028400" cy="143100"/>
          </a:xfrm>
          <a:prstGeom prst="straightConnector1">
            <a:avLst/>
          </a:prstGeom>
          <a:noFill/>
          <a:ln cap="flat" cmpd="sng" w="9525">
            <a:solidFill>
              <a:schemeClr val="lt1"/>
            </a:solidFill>
            <a:prstDash val="dash"/>
            <a:round/>
            <a:headEnd len="med" w="med" type="none"/>
            <a:tailEnd len="med" w="med" type="none"/>
          </a:ln>
        </p:spPr>
      </p:cxnSp>
      <p:cxnSp>
        <p:nvCxnSpPr>
          <p:cNvPr id="180" name="Google Shape;180;g3619e6e1c7d_4_25"/>
          <p:cNvCxnSpPr/>
          <p:nvPr/>
        </p:nvCxnSpPr>
        <p:spPr>
          <a:xfrm>
            <a:off x="6247150" y="3000600"/>
            <a:ext cx="420300" cy="1116300"/>
          </a:xfrm>
          <a:prstGeom prst="straightConnector1">
            <a:avLst/>
          </a:prstGeom>
          <a:noFill/>
          <a:ln cap="flat" cmpd="sng" w="9525">
            <a:solidFill>
              <a:schemeClr val="lt1"/>
            </a:solidFill>
            <a:prstDash val="dash"/>
            <a:round/>
            <a:headEnd len="med" w="med" type="none"/>
            <a:tailEnd len="med" w="med" type="none"/>
          </a:ln>
        </p:spPr>
      </p:cxnSp>
      <p:cxnSp>
        <p:nvCxnSpPr>
          <p:cNvPr id="181" name="Google Shape;181;g3619e6e1c7d_4_25"/>
          <p:cNvCxnSpPr/>
          <p:nvPr/>
        </p:nvCxnSpPr>
        <p:spPr>
          <a:xfrm flipH="1">
            <a:off x="7207325" y="2634250"/>
            <a:ext cx="2034900" cy="1810800"/>
          </a:xfrm>
          <a:prstGeom prst="straightConnector1">
            <a:avLst/>
          </a:prstGeom>
          <a:noFill/>
          <a:ln cap="flat" cmpd="sng" w="9525">
            <a:solidFill>
              <a:schemeClr val="lt1"/>
            </a:solidFill>
            <a:prstDash val="dash"/>
            <a:round/>
            <a:headEnd len="med" w="med" type="none"/>
            <a:tailEnd len="med" w="med" type="none"/>
          </a:ln>
        </p:spPr>
      </p:cxnSp>
      <p:cxnSp>
        <p:nvCxnSpPr>
          <p:cNvPr id="182" name="Google Shape;182;g3619e6e1c7d_4_25"/>
          <p:cNvCxnSpPr/>
          <p:nvPr/>
        </p:nvCxnSpPr>
        <p:spPr>
          <a:xfrm flipH="1" rot="10800000">
            <a:off x="8433600" y="4147400"/>
            <a:ext cx="863400" cy="29700"/>
          </a:xfrm>
          <a:prstGeom prst="straightConnector1">
            <a:avLst/>
          </a:prstGeom>
          <a:noFill/>
          <a:ln cap="flat" cmpd="sng" w="9525">
            <a:solidFill>
              <a:schemeClr val="lt1"/>
            </a:solidFill>
            <a:prstDash val="dash"/>
            <a:round/>
            <a:headEnd len="med" w="med" type="none"/>
            <a:tailEnd len="med" w="med" type="none"/>
          </a:ln>
        </p:spPr>
      </p:cxnSp>
      <p:cxnSp>
        <p:nvCxnSpPr>
          <p:cNvPr id="183" name="Google Shape;183;g3619e6e1c7d_4_25"/>
          <p:cNvCxnSpPr/>
          <p:nvPr/>
        </p:nvCxnSpPr>
        <p:spPr>
          <a:xfrm flipH="1" rot="10800000">
            <a:off x="9534975" y="3859475"/>
            <a:ext cx="1389000" cy="317700"/>
          </a:xfrm>
          <a:prstGeom prst="straightConnector1">
            <a:avLst/>
          </a:prstGeom>
          <a:noFill/>
          <a:ln cap="flat" cmpd="sng" w="9525">
            <a:solidFill>
              <a:schemeClr val="lt1"/>
            </a:solidFill>
            <a:prstDash val="dash"/>
            <a:round/>
            <a:headEnd len="med" w="med" type="none"/>
            <a:tailEnd len="med" w="med" type="none"/>
          </a:ln>
        </p:spPr>
      </p:cxnSp>
      <p:cxnSp>
        <p:nvCxnSpPr>
          <p:cNvPr id="184" name="Google Shape;184;g3619e6e1c7d_4_25"/>
          <p:cNvCxnSpPr/>
          <p:nvPr/>
        </p:nvCxnSpPr>
        <p:spPr>
          <a:xfrm rot="10800000">
            <a:off x="9445625" y="2559825"/>
            <a:ext cx="545700" cy="396900"/>
          </a:xfrm>
          <a:prstGeom prst="straightConnector1">
            <a:avLst/>
          </a:prstGeom>
          <a:noFill/>
          <a:ln cap="flat" cmpd="sng" w="9525">
            <a:solidFill>
              <a:schemeClr val="lt1"/>
            </a:solidFill>
            <a:prstDash val="dash"/>
            <a:round/>
            <a:headEnd len="med" w="med" type="none"/>
            <a:tailEnd len="med" w="med" type="none"/>
          </a:ln>
        </p:spPr>
      </p:cxnSp>
      <p:cxnSp>
        <p:nvCxnSpPr>
          <p:cNvPr id="185" name="Google Shape;185;g3619e6e1c7d_4_25"/>
          <p:cNvCxnSpPr/>
          <p:nvPr/>
        </p:nvCxnSpPr>
        <p:spPr>
          <a:xfrm flipH="1">
            <a:off x="10251804" y="2966600"/>
            <a:ext cx="860700" cy="38100"/>
          </a:xfrm>
          <a:prstGeom prst="straightConnector1">
            <a:avLst/>
          </a:prstGeom>
          <a:noFill/>
          <a:ln cap="flat" cmpd="sng" w="9525">
            <a:solidFill>
              <a:schemeClr val="lt1"/>
            </a:solidFill>
            <a:prstDash val="dash"/>
            <a:round/>
            <a:headEnd len="med" w="med" type="none"/>
            <a:tailEnd len="med" w="med" type="none"/>
          </a:ln>
        </p:spPr>
      </p:cxnSp>
      <p:cxnSp>
        <p:nvCxnSpPr>
          <p:cNvPr id="186" name="Google Shape;186;g3619e6e1c7d_4_25"/>
          <p:cNvCxnSpPr/>
          <p:nvPr/>
        </p:nvCxnSpPr>
        <p:spPr>
          <a:xfrm>
            <a:off x="6873587" y="4383872"/>
            <a:ext cx="1286700" cy="27600"/>
          </a:xfrm>
          <a:prstGeom prst="straightConnector1">
            <a:avLst/>
          </a:prstGeom>
          <a:noFill/>
          <a:ln cap="flat" cmpd="sng" w="9525">
            <a:solidFill>
              <a:schemeClr val="lt1"/>
            </a:solidFill>
            <a:prstDash val="dash"/>
            <a:round/>
            <a:headEnd len="med" w="med" type="none"/>
            <a:tailEnd len="med" w="med" type="none"/>
          </a:ln>
        </p:spPr>
      </p:cxnSp>
      <p:cxnSp>
        <p:nvCxnSpPr>
          <p:cNvPr id="187" name="Google Shape;187;g3619e6e1c7d_4_25"/>
          <p:cNvCxnSpPr/>
          <p:nvPr/>
        </p:nvCxnSpPr>
        <p:spPr>
          <a:xfrm flipH="1">
            <a:off x="8416500" y="4428300"/>
            <a:ext cx="863400" cy="22200"/>
          </a:xfrm>
          <a:prstGeom prst="straightConnector1">
            <a:avLst/>
          </a:prstGeom>
          <a:noFill/>
          <a:ln cap="flat" cmpd="sng" w="9525">
            <a:solidFill>
              <a:schemeClr val="lt1"/>
            </a:solidFill>
            <a:prstDash val="dash"/>
            <a:round/>
            <a:headEnd len="med" w="med" type="none"/>
            <a:tailEnd len="med" w="med" type="none"/>
          </a:ln>
        </p:spPr>
      </p:cxnSp>
      <p:cxnSp>
        <p:nvCxnSpPr>
          <p:cNvPr id="188" name="Google Shape;188;g3619e6e1c7d_4_25"/>
          <p:cNvCxnSpPr/>
          <p:nvPr/>
        </p:nvCxnSpPr>
        <p:spPr>
          <a:xfrm flipH="1" rot="10800000">
            <a:off x="9541700" y="3927025"/>
            <a:ext cx="1464900" cy="512400"/>
          </a:xfrm>
          <a:prstGeom prst="straightConnector1">
            <a:avLst/>
          </a:prstGeom>
          <a:noFill/>
          <a:ln cap="flat" cmpd="sng" w="9525">
            <a:solidFill>
              <a:schemeClr val="lt1"/>
            </a:solidFill>
            <a:prstDash val="dash"/>
            <a:round/>
            <a:headEnd len="med" w="med" type="none"/>
            <a:tailEnd len="med" w="med" type="none"/>
          </a:ln>
        </p:spPr>
      </p:cxnSp>
      <p:cxnSp>
        <p:nvCxnSpPr>
          <p:cNvPr id="189" name="Google Shape;189;g3619e6e1c7d_4_25"/>
          <p:cNvCxnSpPr/>
          <p:nvPr/>
        </p:nvCxnSpPr>
        <p:spPr>
          <a:xfrm>
            <a:off x="1685200" y="3694250"/>
            <a:ext cx="5073900" cy="0"/>
          </a:xfrm>
          <a:prstGeom prst="straightConnector1">
            <a:avLst/>
          </a:prstGeom>
          <a:noFill/>
          <a:ln cap="flat" cmpd="sng" w="38100">
            <a:solidFill>
              <a:schemeClr val="lt1"/>
            </a:solidFill>
            <a:prstDash val="solid"/>
            <a:round/>
            <a:headEnd len="med" w="med" type="none"/>
            <a:tailEnd len="med" w="med" type="triangle"/>
          </a:ln>
        </p:spPr>
      </p:cxnSp>
      <p:cxnSp>
        <p:nvCxnSpPr>
          <p:cNvPr id="190" name="Google Shape;190;g3619e6e1c7d_4_25"/>
          <p:cNvCxnSpPr/>
          <p:nvPr/>
        </p:nvCxnSpPr>
        <p:spPr>
          <a:xfrm flipH="1" rot="10800000">
            <a:off x="2345275" y="1503225"/>
            <a:ext cx="1353300" cy="126600"/>
          </a:xfrm>
          <a:prstGeom prst="straightConnector1">
            <a:avLst/>
          </a:prstGeom>
          <a:noFill/>
          <a:ln cap="flat" cmpd="sng" w="9525">
            <a:solidFill>
              <a:schemeClr val="lt1"/>
            </a:solidFill>
            <a:prstDash val="dash"/>
            <a:round/>
            <a:headEnd len="med" w="med" type="none"/>
            <a:tailEnd len="med" w="med" type="none"/>
          </a:ln>
        </p:spPr>
      </p:cxnSp>
      <p:cxnSp>
        <p:nvCxnSpPr>
          <p:cNvPr id="191" name="Google Shape;191;g3619e6e1c7d_4_25"/>
          <p:cNvCxnSpPr/>
          <p:nvPr/>
        </p:nvCxnSpPr>
        <p:spPr>
          <a:xfrm flipH="1" rot="10800000">
            <a:off x="859375" y="2507825"/>
            <a:ext cx="1284000" cy="61800"/>
          </a:xfrm>
          <a:prstGeom prst="straightConnector1">
            <a:avLst/>
          </a:prstGeom>
          <a:noFill/>
          <a:ln cap="flat" cmpd="sng" w="9525">
            <a:solidFill>
              <a:schemeClr val="lt1"/>
            </a:solidFill>
            <a:prstDash val="dash"/>
            <a:round/>
            <a:headEnd len="med" w="med" type="none"/>
            <a:tailEnd len="med" w="med" type="none"/>
          </a:ln>
        </p:spPr>
      </p:cxnSp>
      <p:cxnSp>
        <p:nvCxnSpPr>
          <p:cNvPr id="192" name="Google Shape;192;g3619e6e1c7d_4_25"/>
          <p:cNvCxnSpPr/>
          <p:nvPr/>
        </p:nvCxnSpPr>
        <p:spPr>
          <a:xfrm>
            <a:off x="842425" y="5854700"/>
            <a:ext cx="1315500" cy="31500"/>
          </a:xfrm>
          <a:prstGeom prst="straightConnector1">
            <a:avLst/>
          </a:prstGeom>
          <a:noFill/>
          <a:ln cap="flat" cmpd="sng" w="9525">
            <a:solidFill>
              <a:schemeClr val="lt1"/>
            </a:solidFill>
            <a:prstDash val="dash"/>
            <a:round/>
            <a:headEnd len="med" w="med" type="none"/>
            <a:tailEnd len="med" w="med" type="none"/>
          </a:ln>
        </p:spPr>
      </p:cxnSp>
      <p:cxnSp>
        <p:nvCxnSpPr>
          <p:cNvPr id="193" name="Google Shape;193;g3619e6e1c7d_4_25"/>
          <p:cNvCxnSpPr/>
          <p:nvPr/>
        </p:nvCxnSpPr>
        <p:spPr>
          <a:xfrm flipH="1" rot="10800000">
            <a:off x="6260575" y="4370800"/>
            <a:ext cx="406800" cy="660000"/>
          </a:xfrm>
          <a:prstGeom prst="straightConnector1">
            <a:avLst/>
          </a:prstGeom>
          <a:noFill/>
          <a:ln cap="flat" cmpd="sng" w="9525">
            <a:solidFill>
              <a:schemeClr val="lt1"/>
            </a:solidFill>
            <a:prstDash val="dash"/>
            <a:round/>
            <a:headEnd len="med" w="med" type="none"/>
            <a:tailEnd len="med" w="med" type="none"/>
          </a:ln>
        </p:spPr>
      </p:cxnSp>
      <p:pic>
        <p:nvPicPr>
          <p:cNvPr id="194" name="Google Shape;194;g3619e6e1c7d_4_25"/>
          <p:cNvPicPr preferRelativeResize="0"/>
          <p:nvPr/>
        </p:nvPicPr>
        <p:blipFill>
          <a:blip r:embed="rId13">
            <a:alphaModFix/>
          </a:blip>
          <a:stretch>
            <a:fillRect/>
          </a:stretch>
        </p:blipFill>
        <p:spPr>
          <a:xfrm>
            <a:off x="6634300" y="2457028"/>
            <a:ext cx="2825175" cy="1943944"/>
          </a:xfrm>
          <a:prstGeom prst="rect">
            <a:avLst/>
          </a:prstGeom>
          <a:noFill/>
          <a:ln>
            <a:noFill/>
          </a:ln>
        </p:spPr>
      </p:pic>
      <p:cxnSp>
        <p:nvCxnSpPr>
          <p:cNvPr id="195" name="Google Shape;195;g3619e6e1c7d_4_25"/>
          <p:cNvCxnSpPr/>
          <p:nvPr/>
        </p:nvCxnSpPr>
        <p:spPr>
          <a:xfrm flipH="1" rot="10800000">
            <a:off x="6865950" y="4147375"/>
            <a:ext cx="1279800" cy="9900"/>
          </a:xfrm>
          <a:prstGeom prst="straightConnector1">
            <a:avLst/>
          </a:prstGeom>
          <a:noFill/>
          <a:ln cap="flat" cmpd="sng" w="9525">
            <a:solidFill>
              <a:schemeClr val="lt1"/>
            </a:solidFill>
            <a:prstDash val="dash"/>
            <a:round/>
            <a:headEnd len="med" w="med" type="none"/>
            <a:tailEnd len="med" w="med" type="none"/>
          </a:ln>
        </p:spPr>
      </p:cxnSp>
      <p:cxnSp>
        <p:nvCxnSpPr>
          <p:cNvPr id="196" name="Google Shape;196;g3619e6e1c7d_4_25"/>
          <p:cNvCxnSpPr/>
          <p:nvPr/>
        </p:nvCxnSpPr>
        <p:spPr>
          <a:xfrm>
            <a:off x="6028600" y="3694250"/>
            <a:ext cx="2672100" cy="0"/>
          </a:xfrm>
          <a:prstGeom prst="straightConnector1">
            <a:avLst/>
          </a:prstGeom>
          <a:noFill/>
          <a:ln cap="flat" cmpd="sng" w="38100">
            <a:solidFill>
              <a:schemeClr val="lt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1" name="Shape 201"/>
        <p:cNvGrpSpPr/>
        <p:nvPr/>
      </p:nvGrpSpPr>
      <p:grpSpPr>
        <a:xfrm>
          <a:off x="0" y="0"/>
          <a:ext cx="0" cy="0"/>
          <a:chOff x="0" y="0"/>
          <a:chExt cx="0" cy="0"/>
        </a:xfrm>
      </p:grpSpPr>
      <p:pic>
        <p:nvPicPr>
          <p:cNvPr descr="Immagine che contiene calcio, collage, calcio/football americano, persona&#10;&#10;Il contenuto generato dall'IA potrebbe non essere corretto." id="202" name="Google Shape;202;g3619e6e1c7d_9_17"/>
          <p:cNvPicPr preferRelativeResize="0"/>
          <p:nvPr/>
        </p:nvPicPr>
        <p:blipFill rotWithShape="1">
          <a:blip r:embed="rId3">
            <a:alphaModFix amt="32000"/>
          </a:blip>
          <a:srcRect b="10332" l="513" r="46534" t="10977"/>
          <a:stretch/>
        </p:blipFill>
        <p:spPr>
          <a:xfrm>
            <a:off x="0" y="0"/>
            <a:ext cx="6520950" cy="6858001"/>
          </a:xfrm>
          <a:prstGeom prst="rect">
            <a:avLst/>
          </a:prstGeom>
          <a:noFill/>
          <a:ln>
            <a:noFill/>
          </a:ln>
          <a:effectLst>
            <a:outerShdw blurRad="50800" rotWithShape="0" algn="ctr" dir="5400000" dist="50800">
              <a:srgbClr val="000000"/>
            </a:outerShdw>
          </a:effectLst>
        </p:spPr>
      </p:pic>
      <p:pic>
        <p:nvPicPr>
          <p:cNvPr id="203" name="Google Shape;203;g3619e6e1c7d_9_17"/>
          <p:cNvPicPr preferRelativeResize="0"/>
          <p:nvPr/>
        </p:nvPicPr>
        <p:blipFill>
          <a:blip r:embed="rId4">
            <a:alphaModFix/>
          </a:blip>
          <a:stretch>
            <a:fillRect/>
          </a:stretch>
        </p:blipFill>
        <p:spPr>
          <a:xfrm>
            <a:off x="7879276" y="959712"/>
            <a:ext cx="664900" cy="667775"/>
          </a:xfrm>
          <a:prstGeom prst="rect">
            <a:avLst/>
          </a:prstGeom>
          <a:noFill/>
          <a:ln>
            <a:noFill/>
          </a:ln>
        </p:spPr>
      </p:pic>
      <p:sp>
        <p:nvSpPr>
          <p:cNvPr id="204" name="Google Shape;204;g3619e6e1c7d_9_17"/>
          <p:cNvSpPr txBox="1"/>
          <p:nvPr/>
        </p:nvSpPr>
        <p:spPr>
          <a:xfrm>
            <a:off x="7957075" y="1047288"/>
            <a:ext cx="56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05</a:t>
            </a:r>
            <a:endParaRPr sz="800">
              <a:solidFill>
                <a:schemeClr val="lt1"/>
              </a:solidFill>
            </a:endParaRPr>
          </a:p>
        </p:txBody>
      </p:sp>
      <p:sp>
        <p:nvSpPr>
          <p:cNvPr id="205" name="Google Shape;205;g3619e6e1c7d_9_17"/>
          <p:cNvSpPr txBox="1"/>
          <p:nvPr/>
        </p:nvSpPr>
        <p:spPr>
          <a:xfrm>
            <a:off x="6969875" y="1035450"/>
            <a:ext cx="4671900" cy="47871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Font typeface="Arial"/>
              <a:buNone/>
            </a:pPr>
            <a:r>
              <a:rPr b="1" lang="en-US" sz="3000">
                <a:solidFill>
                  <a:srgbClr val="43C149"/>
                </a:solidFill>
                <a:latin typeface="Montserrat"/>
                <a:ea typeface="Montserrat"/>
                <a:cs typeface="Montserrat"/>
                <a:sym typeface="Montserrat"/>
              </a:rPr>
              <a:t>Model training</a:t>
            </a:r>
            <a:endParaRPr sz="1800">
              <a:solidFill>
                <a:schemeClr val="lt1"/>
              </a:solidFill>
              <a:latin typeface="Montserrat ExtraLight"/>
              <a:ea typeface="Montserrat ExtraLight"/>
              <a:cs typeface="Montserrat ExtraLight"/>
              <a:sym typeface="Montserrat ExtraLight"/>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lt1"/>
              </a:solidFill>
              <a:latin typeface="Montserrat ExtraLight"/>
              <a:ea typeface="Montserrat ExtraLight"/>
              <a:cs typeface="Montserrat ExtraLight"/>
              <a:sym typeface="Montserrat ExtraLight"/>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lt1"/>
              </a:solidFill>
              <a:latin typeface="Montserrat ExtraLight"/>
              <a:ea typeface="Montserrat ExtraLight"/>
              <a:cs typeface="Montserrat ExtraLight"/>
              <a:sym typeface="Montserrat ExtraLight"/>
            </a:endParaRPr>
          </a:p>
          <a:p>
            <a:pPr indent="0" lvl="0" marL="0" rtl="0" algn="r">
              <a:lnSpc>
                <a:spcPct val="115000"/>
              </a:lnSpc>
              <a:spcBef>
                <a:spcPts val="1200"/>
              </a:spcBef>
              <a:spcAft>
                <a:spcPts val="0"/>
              </a:spcAft>
              <a:buClr>
                <a:schemeClr val="dk1"/>
              </a:buClr>
              <a:buSzPts val="1100"/>
              <a:buFont typeface="Arial"/>
              <a:buNone/>
            </a:pPr>
            <a:r>
              <a:rPr lang="en-US" sz="1800">
                <a:solidFill>
                  <a:schemeClr val="lt1"/>
                </a:solidFill>
                <a:latin typeface="Montserrat ExtraLight"/>
                <a:ea typeface="Montserrat ExtraLight"/>
                <a:cs typeface="Montserrat ExtraLight"/>
                <a:sym typeface="Montserrat ExtraLight"/>
              </a:rPr>
              <a:t>Main Phases:</a:t>
            </a:r>
            <a:endParaRPr sz="1800">
              <a:solidFill>
                <a:schemeClr val="lt1"/>
              </a:solidFill>
              <a:latin typeface="Montserrat ExtraLight"/>
              <a:ea typeface="Montserrat ExtraLight"/>
              <a:cs typeface="Montserrat ExtraLight"/>
              <a:sym typeface="Montserrat ExtraLight"/>
            </a:endParaRPr>
          </a:p>
          <a:p>
            <a:pPr indent="0" lvl="0" marL="457200" rtl="0" algn="r">
              <a:lnSpc>
                <a:spcPct val="115000"/>
              </a:lnSpc>
              <a:spcBef>
                <a:spcPts val="1200"/>
              </a:spcBef>
              <a:spcAft>
                <a:spcPts val="0"/>
              </a:spcAft>
              <a:buNone/>
            </a:pPr>
            <a:r>
              <a:rPr lang="en-US" sz="1800">
                <a:solidFill>
                  <a:schemeClr val="lt1"/>
                </a:solidFill>
                <a:latin typeface="Montserrat ExtraLight"/>
                <a:ea typeface="Montserrat ExtraLight"/>
                <a:cs typeface="Montserrat ExtraLight"/>
                <a:sym typeface="Montserrat ExtraLight"/>
              </a:rPr>
              <a:t>Initial </a:t>
            </a:r>
            <a:r>
              <a:rPr lang="en-US" sz="1800">
                <a:solidFill>
                  <a:srgbClr val="43C149"/>
                </a:solidFill>
                <a:latin typeface="Montserrat"/>
                <a:ea typeface="Montserrat"/>
                <a:cs typeface="Montserrat"/>
                <a:sym typeface="Montserrat"/>
              </a:rPr>
              <a:t>model training</a:t>
            </a:r>
            <a:r>
              <a:rPr lang="en-US" sz="1800">
                <a:solidFill>
                  <a:schemeClr val="lt1"/>
                </a:solidFill>
                <a:latin typeface="Montserrat ExtraLight"/>
                <a:ea typeface="Montserrat ExtraLight"/>
                <a:cs typeface="Montserrat ExtraLight"/>
                <a:sym typeface="Montserrat ExtraLight"/>
              </a:rPr>
              <a:t> </a:t>
            </a:r>
            <a:r>
              <a:rPr lang="en-US" sz="1800">
                <a:solidFill>
                  <a:srgbClr val="43C149"/>
                </a:solidFill>
                <a:latin typeface="Montserrat"/>
                <a:ea typeface="Montserrat"/>
                <a:cs typeface="Montserrat"/>
                <a:sym typeface="Montserrat"/>
              </a:rPr>
              <a:t>Hyperparameter tuning</a:t>
            </a:r>
            <a:r>
              <a:rPr lang="en-US" sz="1800">
                <a:solidFill>
                  <a:schemeClr val="lt1"/>
                </a:solidFill>
                <a:latin typeface="Montserrat ExtraLight"/>
                <a:ea typeface="Montserrat ExtraLight"/>
                <a:cs typeface="Montserrat ExtraLight"/>
                <a:sym typeface="Montserrat ExtraLight"/>
              </a:rPr>
              <a:t> and validation                                          </a:t>
            </a:r>
            <a:r>
              <a:rPr lang="en-US" sz="1800">
                <a:solidFill>
                  <a:srgbClr val="43C149"/>
                </a:solidFill>
                <a:latin typeface="Montserrat"/>
                <a:ea typeface="Montserrat"/>
                <a:cs typeface="Montserrat"/>
                <a:sym typeface="Montserrat"/>
              </a:rPr>
              <a:t>Final training</a:t>
            </a:r>
            <a:r>
              <a:rPr lang="en-US" sz="1800">
                <a:solidFill>
                  <a:schemeClr val="lt1"/>
                </a:solidFill>
                <a:latin typeface="Montserrat ExtraLight"/>
                <a:ea typeface="Montserrat ExtraLight"/>
                <a:cs typeface="Montserrat ExtraLight"/>
                <a:sym typeface="Montserrat ExtraLight"/>
              </a:rPr>
              <a:t> on the full dataset</a:t>
            </a:r>
            <a:endParaRPr sz="1800">
              <a:solidFill>
                <a:schemeClr val="lt1"/>
              </a:solidFill>
              <a:latin typeface="Montserrat ExtraLight"/>
              <a:ea typeface="Montserrat ExtraLight"/>
              <a:cs typeface="Montserrat ExtraLight"/>
              <a:sym typeface="Montserrat ExtraLight"/>
            </a:endParaRPr>
          </a:p>
          <a:p>
            <a:pPr indent="0" lvl="0" marL="0" rtl="0" algn="r">
              <a:lnSpc>
                <a:spcPct val="115000"/>
              </a:lnSpc>
              <a:spcBef>
                <a:spcPts val="1200"/>
              </a:spcBef>
              <a:spcAft>
                <a:spcPts val="1200"/>
              </a:spcAft>
              <a:buNone/>
            </a:pPr>
            <a:r>
              <a:rPr lang="en-US" sz="1800">
                <a:solidFill>
                  <a:schemeClr val="lt1"/>
                </a:solidFill>
                <a:latin typeface="Montserrat ExtraLight"/>
                <a:ea typeface="Montserrat ExtraLight"/>
                <a:cs typeface="Montserrat ExtraLight"/>
                <a:sym typeface="Montserrat ExtraLight"/>
              </a:rPr>
              <a:t>We employed </a:t>
            </a:r>
            <a:r>
              <a:rPr lang="en-US" sz="1800">
                <a:solidFill>
                  <a:srgbClr val="43C149"/>
                </a:solidFill>
                <a:latin typeface="Montserrat"/>
                <a:ea typeface="Montserrat"/>
                <a:cs typeface="Montserrat"/>
                <a:sym typeface="Montserrat"/>
              </a:rPr>
              <a:t>Optuna</a:t>
            </a:r>
            <a:r>
              <a:rPr lang="en-US" sz="1800">
                <a:solidFill>
                  <a:schemeClr val="lt1"/>
                </a:solidFill>
                <a:latin typeface="Montserrat ExtraLight"/>
                <a:ea typeface="Montserrat ExtraLight"/>
                <a:cs typeface="Montserrat ExtraLight"/>
                <a:sym typeface="Montserrat ExtraLight"/>
              </a:rPr>
              <a:t>, a Bayesian optimization library, to automatically find the best hyperparameter settings to maximize model performance.</a:t>
            </a:r>
            <a:endParaRPr sz="1800">
              <a:solidFill>
                <a:schemeClr val="lt1"/>
              </a:solidFill>
              <a:latin typeface="Montserrat ExtraLight"/>
              <a:ea typeface="Montserrat ExtraLight"/>
              <a:cs typeface="Montserrat ExtraLight"/>
              <a:sym typeface="Montserrat ExtraLight"/>
            </a:endParaRPr>
          </a:p>
        </p:txBody>
      </p:sp>
      <p:pic>
        <p:nvPicPr>
          <p:cNvPr id="206" name="Google Shape;206;g3619e6e1c7d_9_17"/>
          <p:cNvPicPr preferRelativeResize="0"/>
          <p:nvPr/>
        </p:nvPicPr>
        <p:blipFill rotWithShape="1">
          <a:blip r:embed="rId5">
            <a:alphaModFix amt="90000"/>
          </a:blip>
          <a:srcRect b="0" l="19365" r="20324" t="0"/>
          <a:stretch/>
        </p:blipFill>
        <p:spPr>
          <a:xfrm>
            <a:off x="3246550" y="838975"/>
            <a:ext cx="2428200" cy="3007775"/>
          </a:xfrm>
          <a:prstGeom prst="rect">
            <a:avLst/>
          </a:prstGeom>
          <a:noFill/>
          <a:ln cap="flat" cmpd="sng" w="28575">
            <a:solidFill>
              <a:schemeClr val="lt1"/>
            </a:solidFill>
            <a:prstDash val="solid"/>
            <a:round/>
            <a:headEnd len="sm" w="sm" type="none"/>
            <a:tailEnd len="sm" w="sm" type="none"/>
          </a:ln>
        </p:spPr>
      </p:pic>
      <p:pic>
        <p:nvPicPr>
          <p:cNvPr id="207" name="Google Shape;207;g3619e6e1c7d_9_17"/>
          <p:cNvPicPr preferRelativeResize="0"/>
          <p:nvPr/>
        </p:nvPicPr>
        <p:blipFill>
          <a:blip r:embed="rId6">
            <a:alphaModFix/>
          </a:blip>
          <a:stretch>
            <a:fillRect/>
          </a:stretch>
        </p:blipFill>
        <p:spPr>
          <a:xfrm>
            <a:off x="6691350" y="6287500"/>
            <a:ext cx="1988999" cy="41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2" name="Shape 212"/>
        <p:cNvGrpSpPr/>
        <p:nvPr/>
      </p:nvGrpSpPr>
      <p:grpSpPr>
        <a:xfrm>
          <a:off x="0" y="0"/>
          <a:ext cx="0" cy="0"/>
          <a:chOff x="0" y="0"/>
          <a:chExt cx="0" cy="0"/>
        </a:xfrm>
      </p:grpSpPr>
      <p:pic>
        <p:nvPicPr>
          <p:cNvPr descr="Immagine che contiene calcio, collage, calcio/football americano, persona&#10;&#10;Il contenuto generato dall'IA potrebbe non essere corretto." id="213" name="Google Shape;213;g3619e6e1c7d_2_109"/>
          <p:cNvPicPr preferRelativeResize="0"/>
          <p:nvPr/>
        </p:nvPicPr>
        <p:blipFill rotWithShape="1">
          <a:blip r:embed="rId3">
            <a:alphaModFix amt="32000"/>
          </a:blip>
          <a:srcRect b="10332" l="67860" r="487" t="10977"/>
          <a:stretch/>
        </p:blipFill>
        <p:spPr>
          <a:xfrm>
            <a:off x="8294075" y="0"/>
            <a:ext cx="3897926" cy="6858001"/>
          </a:xfrm>
          <a:prstGeom prst="rect">
            <a:avLst/>
          </a:prstGeom>
          <a:noFill/>
          <a:ln>
            <a:noFill/>
          </a:ln>
          <a:effectLst>
            <a:outerShdw blurRad="50800" rotWithShape="0" algn="ctr" dir="5400000" dist="50800">
              <a:srgbClr val="000000"/>
            </a:outerShdw>
          </a:effectLst>
        </p:spPr>
      </p:pic>
      <p:pic>
        <p:nvPicPr>
          <p:cNvPr descr="Immagine che contiene calcio, collage, calcio/football americano, persona&#10;&#10;Il contenuto generato dall'IA potrebbe non essere corretto." id="214" name="Google Shape;214;g3619e6e1c7d_2_109"/>
          <p:cNvPicPr preferRelativeResize="0"/>
          <p:nvPr/>
        </p:nvPicPr>
        <p:blipFill rotWithShape="1">
          <a:blip r:embed="rId3">
            <a:alphaModFix amt="32000"/>
          </a:blip>
          <a:srcRect b="10332" l="512" r="67836" t="10977"/>
          <a:stretch/>
        </p:blipFill>
        <p:spPr>
          <a:xfrm>
            <a:off x="0" y="0"/>
            <a:ext cx="3897926" cy="6858001"/>
          </a:xfrm>
          <a:prstGeom prst="rect">
            <a:avLst/>
          </a:prstGeom>
          <a:noFill/>
          <a:ln>
            <a:noFill/>
          </a:ln>
          <a:effectLst>
            <a:outerShdw blurRad="50800" rotWithShape="0" algn="ctr" dir="5400000" dist="50800">
              <a:srgbClr val="000000"/>
            </a:outerShdw>
          </a:effectLst>
        </p:spPr>
      </p:pic>
      <p:sp>
        <p:nvSpPr>
          <p:cNvPr id="215" name="Google Shape;215;g3619e6e1c7d_2_109"/>
          <p:cNvSpPr txBox="1"/>
          <p:nvPr/>
        </p:nvSpPr>
        <p:spPr>
          <a:xfrm>
            <a:off x="4031100" y="1397250"/>
            <a:ext cx="4129800" cy="40635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b="1" lang="en-US" sz="3000">
                <a:solidFill>
                  <a:srgbClr val="43C149"/>
                </a:solidFill>
                <a:latin typeface="Montserrat"/>
                <a:ea typeface="Montserrat"/>
                <a:cs typeface="Montserrat"/>
                <a:sym typeface="Montserrat"/>
              </a:rPr>
              <a:t>Model performances</a:t>
            </a:r>
            <a:endParaRPr sz="3000">
              <a:solidFill>
                <a:srgbClr val="43C149"/>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rgbClr val="43C149"/>
                </a:solidFill>
                <a:latin typeface="Montserrat"/>
                <a:ea typeface="Montserrat"/>
                <a:cs typeface="Montserrat"/>
                <a:sym typeface="Montserrat"/>
              </a:rPr>
              <a:t>Accuracy:</a:t>
            </a:r>
            <a:r>
              <a:rPr lang="en-US" sz="1800">
                <a:solidFill>
                  <a:schemeClr val="lt1"/>
                </a:solidFill>
                <a:latin typeface="Montserrat ExtraLight"/>
                <a:ea typeface="Montserrat ExtraLight"/>
                <a:cs typeface="Montserrat ExtraLight"/>
                <a:sym typeface="Montserrat ExtraLight"/>
              </a:rPr>
              <a:t> ~75% on test set</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chemeClr val="lt1"/>
                </a:solidFill>
                <a:latin typeface="Montserrat ExtraLight"/>
                <a:ea typeface="Montserrat ExtraLight"/>
                <a:cs typeface="Montserrat ExtraLight"/>
                <a:sym typeface="Montserrat ExtraLight"/>
              </a:rPr>
              <a:t>Good result for a simple model and limited data</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t/>
            </a:r>
            <a:endParaRPr sz="1800">
              <a:solidFill>
                <a:schemeClr val="lt1"/>
              </a:solidFill>
              <a:latin typeface="Montserrat ExtraLight"/>
              <a:ea typeface="Montserrat ExtraLight"/>
              <a:cs typeface="Montserrat ExtraLight"/>
              <a:sym typeface="Montserrat ExtraLight"/>
            </a:endParaRPr>
          </a:p>
          <a:p>
            <a:pPr indent="0" lvl="0" marL="0" marR="0" rtl="0" algn="ctr">
              <a:spcBef>
                <a:spcPts val="0"/>
              </a:spcBef>
              <a:spcAft>
                <a:spcPts val="0"/>
              </a:spcAft>
              <a:buNone/>
            </a:pPr>
            <a:r>
              <a:rPr lang="en-US" sz="1800">
                <a:solidFill>
                  <a:srgbClr val="43C149"/>
                </a:solidFill>
                <a:latin typeface="Montserrat"/>
                <a:ea typeface="Montserrat"/>
                <a:cs typeface="Montserrat"/>
                <a:sym typeface="Montserrat"/>
              </a:rPr>
              <a:t>Per-class behavior:</a:t>
            </a:r>
            <a:r>
              <a:rPr lang="en-US" sz="1800">
                <a:solidFill>
                  <a:schemeClr val="lt1"/>
                </a:solidFill>
                <a:latin typeface="Montserrat ExtraLight"/>
                <a:ea typeface="Montserrat ExtraLight"/>
                <a:cs typeface="Montserrat ExtraLight"/>
                <a:sym typeface="Montserrat ExtraLight"/>
              </a:rPr>
              <a:t>                               Fouls: High recall – most fouls correctly detected                                                       No Fouls: Lower precision – some clean tackles misclassified as fouls</a:t>
            </a:r>
            <a:endParaRPr sz="1800">
              <a:solidFill>
                <a:schemeClr val="lt1"/>
              </a:solidFill>
              <a:latin typeface="Montserrat ExtraLight"/>
              <a:ea typeface="Montserrat ExtraLight"/>
              <a:cs typeface="Montserrat ExtraLight"/>
              <a:sym typeface="Montserrat ExtraLight"/>
            </a:endParaRPr>
          </a:p>
        </p:txBody>
      </p:sp>
      <p:pic>
        <p:nvPicPr>
          <p:cNvPr id="216" name="Google Shape;216;g3619e6e1c7d_2_109"/>
          <p:cNvPicPr preferRelativeResize="0"/>
          <p:nvPr/>
        </p:nvPicPr>
        <p:blipFill>
          <a:blip r:embed="rId4">
            <a:alphaModFix/>
          </a:blip>
          <a:stretch>
            <a:fillRect/>
          </a:stretch>
        </p:blipFill>
        <p:spPr>
          <a:xfrm>
            <a:off x="4756526" y="1316412"/>
            <a:ext cx="664900" cy="667775"/>
          </a:xfrm>
          <a:prstGeom prst="rect">
            <a:avLst/>
          </a:prstGeom>
          <a:noFill/>
          <a:ln>
            <a:noFill/>
          </a:ln>
        </p:spPr>
      </p:pic>
      <p:sp>
        <p:nvSpPr>
          <p:cNvPr id="217" name="Google Shape;217;g3619e6e1c7d_2_109"/>
          <p:cNvSpPr txBox="1"/>
          <p:nvPr/>
        </p:nvSpPr>
        <p:spPr>
          <a:xfrm>
            <a:off x="4834325" y="1403988"/>
            <a:ext cx="565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lt1"/>
                </a:solidFill>
                <a:latin typeface="Montserrat"/>
                <a:ea typeface="Montserrat"/>
                <a:cs typeface="Montserrat"/>
                <a:sym typeface="Montserrat"/>
              </a:rPr>
              <a:t>06</a:t>
            </a:r>
            <a:endParaRPr sz="800">
              <a:solidFill>
                <a:schemeClr val="lt1"/>
              </a:solidFill>
            </a:endParaRPr>
          </a:p>
        </p:txBody>
      </p:sp>
      <p:grpSp>
        <p:nvGrpSpPr>
          <p:cNvPr id="218" name="Google Shape;218;g3619e6e1c7d_2_109"/>
          <p:cNvGrpSpPr/>
          <p:nvPr/>
        </p:nvGrpSpPr>
        <p:grpSpPr>
          <a:xfrm>
            <a:off x="271059" y="2581548"/>
            <a:ext cx="3898044" cy="3578301"/>
            <a:chOff x="271050" y="2784224"/>
            <a:chExt cx="3760050" cy="3451626"/>
          </a:xfrm>
        </p:grpSpPr>
        <p:pic>
          <p:nvPicPr>
            <p:cNvPr id="219" name="Google Shape;219;g3619e6e1c7d_2_109"/>
            <p:cNvPicPr preferRelativeResize="0"/>
            <p:nvPr/>
          </p:nvPicPr>
          <p:blipFill>
            <a:blip r:embed="rId5">
              <a:alphaModFix/>
            </a:blip>
            <a:stretch>
              <a:fillRect/>
            </a:stretch>
          </p:blipFill>
          <p:spPr>
            <a:xfrm>
              <a:off x="271050" y="2784224"/>
              <a:ext cx="3760050" cy="3451626"/>
            </a:xfrm>
            <a:prstGeom prst="rect">
              <a:avLst/>
            </a:prstGeom>
            <a:noFill/>
            <a:ln>
              <a:noFill/>
            </a:ln>
          </p:spPr>
        </p:pic>
        <p:pic>
          <p:nvPicPr>
            <p:cNvPr id="220" name="Google Shape;220;g3619e6e1c7d_2_109"/>
            <p:cNvPicPr preferRelativeResize="0"/>
            <p:nvPr/>
          </p:nvPicPr>
          <p:blipFill rotWithShape="1">
            <a:blip r:embed="rId6">
              <a:alphaModFix/>
            </a:blip>
            <a:srcRect b="11347" l="10180" r="53539" t="47493"/>
            <a:stretch/>
          </p:blipFill>
          <p:spPr>
            <a:xfrm>
              <a:off x="653825" y="4423475"/>
              <a:ext cx="1364175" cy="1420675"/>
            </a:xfrm>
            <a:prstGeom prst="rect">
              <a:avLst/>
            </a:prstGeom>
            <a:noFill/>
            <a:ln>
              <a:noFill/>
            </a:ln>
          </p:spPr>
        </p:pic>
      </p:grpSp>
      <p:pic>
        <p:nvPicPr>
          <p:cNvPr id="221" name="Google Shape;221;g3619e6e1c7d_2_109"/>
          <p:cNvPicPr preferRelativeResize="0"/>
          <p:nvPr/>
        </p:nvPicPr>
        <p:blipFill>
          <a:blip r:embed="rId7">
            <a:alphaModFix/>
          </a:blip>
          <a:stretch>
            <a:fillRect/>
          </a:stretch>
        </p:blipFill>
        <p:spPr>
          <a:xfrm>
            <a:off x="7932700" y="1039975"/>
            <a:ext cx="4259300" cy="341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6" name="Shape 226"/>
        <p:cNvGrpSpPr/>
        <p:nvPr/>
      </p:nvGrpSpPr>
      <p:grpSpPr>
        <a:xfrm>
          <a:off x="0" y="0"/>
          <a:ext cx="0" cy="0"/>
          <a:chOff x="0" y="0"/>
          <a:chExt cx="0" cy="0"/>
        </a:xfrm>
      </p:grpSpPr>
      <p:pic>
        <p:nvPicPr>
          <p:cNvPr descr="Immagine che contiene calcio, collage, calcio/football americano, persona&#10;&#10;Il contenuto generato dall'IA potrebbe non essere corretto." id="227" name="Google Shape;227;g3619e6e1c7d_2_29"/>
          <p:cNvPicPr preferRelativeResize="0"/>
          <p:nvPr/>
        </p:nvPicPr>
        <p:blipFill rotWithShape="1">
          <a:blip r:embed="rId3">
            <a:alphaModFix amt="20000"/>
          </a:blip>
          <a:srcRect b="10332" l="514" r="485" t="10977"/>
          <a:stretch/>
        </p:blipFill>
        <p:spPr>
          <a:xfrm>
            <a:off x="0" y="0"/>
            <a:ext cx="12192001" cy="6858001"/>
          </a:xfrm>
          <a:prstGeom prst="rect">
            <a:avLst/>
          </a:prstGeom>
          <a:noFill/>
          <a:ln>
            <a:noFill/>
          </a:ln>
          <a:effectLst>
            <a:outerShdw blurRad="50800" rotWithShape="0" algn="ctr" dir="5400000" dist="50800">
              <a:srgbClr val="000000"/>
            </a:outerShdw>
          </a:effectLst>
        </p:spPr>
      </p:pic>
      <p:sp>
        <p:nvSpPr>
          <p:cNvPr id="228" name="Google Shape;228;g3619e6e1c7d_2_29"/>
          <p:cNvSpPr txBox="1"/>
          <p:nvPr/>
        </p:nvSpPr>
        <p:spPr>
          <a:xfrm>
            <a:off x="3091950" y="2198550"/>
            <a:ext cx="6008100" cy="1508400"/>
          </a:xfrm>
          <a:prstGeom prst="rect">
            <a:avLst/>
          </a:prstGeom>
          <a:noFill/>
          <a:ln>
            <a:noFill/>
          </a:ln>
          <a:effectLst>
            <a:outerShdw blurRad="57150" rotWithShape="0" algn="bl" dir="5400000" dist="19050">
              <a:srgbClr val="000000">
                <a:alpha val="49800"/>
              </a:srgbClr>
            </a:outerShdw>
          </a:effectLst>
        </p:spPr>
        <p:txBody>
          <a:bodyPr anchorCtr="0" anchor="ctr" bIns="45700" lIns="91425" spcFirstLastPara="1" rIns="91425" wrap="square" tIns="45700">
            <a:spAutoFit/>
          </a:bodyPr>
          <a:lstStyle/>
          <a:p>
            <a:pPr indent="0" lvl="0" marL="0" rtl="0" algn="ctr">
              <a:spcBef>
                <a:spcPts val="0"/>
              </a:spcBef>
              <a:spcAft>
                <a:spcPts val="0"/>
              </a:spcAft>
              <a:buClr>
                <a:schemeClr val="dk1"/>
              </a:buClr>
              <a:buSzPts val="5400"/>
              <a:buFont typeface="Arial"/>
              <a:buNone/>
            </a:pPr>
            <a:r>
              <a:rPr b="1" lang="en-US" sz="4600">
                <a:solidFill>
                  <a:srgbClr val="43C149"/>
                </a:solidFill>
                <a:latin typeface="Montserrat"/>
                <a:ea typeface="Montserrat"/>
                <a:cs typeface="Montserrat"/>
                <a:sym typeface="Montserrat"/>
              </a:rPr>
              <a:t>Thanks</a:t>
            </a:r>
            <a:r>
              <a:rPr b="1" lang="en-US" sz="4600">
                <a:solidFill>
                  <a:schemeClr val="lt1"/>
                </a:solidFill>
                <a:latin typeface="Montserrat"/>
                <a:ea typeface="Montserrat"/>
                <a:cs typeface="Montserrat"/>
                <a:sym typeface="Montserrat"/>
              </a:rPr>
              <a:t> </a:t>
            </a:r>
            <a:endParaRPr b="1" sz="4600">
              <a:solidFill>
                <a:schemeClr val="lt1"/>
              </a:solidFill>
              <a:latin typeface="Montserrat"/>
              <a:ea typeface="Montserrat"/>
              <a:cs typeface="Montserrat"/>
              <a:sym typeface="Montserrat"/>
            </a:endParaRPr>
          </a:p>
          <a:p>
            <a:pPr indent="0" lvl="0" marL="0" rtl="0" algn="ctr">
              <a:spcBef>
                <a:spcPts val="0"/>
              </a:spcBef>
              <a:spcAft>
                <a:spcPts val="0"/>
              </a:spcAft>
              <a:buClr>
                <a:schemeClr val="dk1"/>
              </a:buClr>
              <a:buSzPts val="5400"/>
              <a:buFont typeface="Arial"/>
              <a:buNone/>
            </a:pPr>
            <a:r>
              <a:rPr b="1" lang="en-US" sz="4600">
                <a:solidFill>
                  <a:schemeClr val="lt1"/>
                </a:solidFill>
                <a:latin typeface="Montserrat"/>
                <a:ea typeface="Montserrat"/>
                <a:cs typeface="Montserrat"/>
                <a:sym typeface="Montserrat"/>
              </a:rPr>
              <a:t>For Your Attention</a:t>
            </a:r>
            <a:endParaRPr b="1" sz="4600">
              <a:solidFill>
                <a:schemeClr val="lt1"/>
              </a:solidFill>
              <a:latin typeface="Montserrat"/>
              <a:ea typeface="Montserrat"/>
              <a:cs typeface="Montserrat"/>
              <a:sym typeface="Montserrat"/>
            </a:endParaRPr>
          </a:p>
        </p:txBody>
      </p:sp>
      <p:pic>
        <p:nvPicPr>
          <p:cNvPr id="229" name="Google Shape;229;g3619e6e1c7d_2_29"/>
          <p:cNvPicPr preferRelativeResize="0"/>
          <p:nvPr/>
        </p:nvPicPr>
        <p:blipFill>
          <a:blip r:embed="rId4">
            <a:alphaModFix/>
          </a:blip>
          <a:stretch>
            <a:fillRect/>
          </a:stretch>
        </p:blipFill>
        <p:spPr>
          <a:xfrm>
            <a:off x="4942750" y="4272650"/>
            <a:ext cx="3464900" cy="2585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ntents Slide Master">
  <a:themeElements>
    <a:clrScheme name="ALLPPT-607">
      <a:dk1>
        <a:srgbClr val="000000"/>
      </a:dk1>
      <a:lt1>
        <a:srgbClr val="FFFFFF"/>
      </a:lt1>
      <a:dk2>
        <a:srgbClr val="44546A"/>
      </a:dk2>
      <a:lt2>
        <a:srgbClr val="E7E6E6"/>
      </a:lt2>
      <a:accent1>
        <a:srgbClr val="02ECEC"/>
      </a:accent1>
      <a:accent2>
        <a:srgbClr val="0AA6ED"/>
      </a:accent2>
      <a:accent3>
        <a:srgbClr val="0085F2"/>
      </a:accent3>
      <a:accent4>
        <a:srgbClr val="125AC4"/>
      </a:accent4>
      <a:accent5>
        <a:srgbClr val="00307E"/>
      </a:accent5>
      <a:accent6>
        <a:srgbClr val="070780"/>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ver and End Slide Master">
  <a:themeElements>
    <a:clrScheme name="ALLPPT-607">
      <a:dk1>
        <a:srgbClr val="000000"/>
      </a:dk1>
      <a:lt1>
        <a:srgbClr val="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2020-01-20T05:08:25Z</dcterms:created>
  <dc:creator>Allppt.com</dc:creator>
</cp:coreProperties>
</file>